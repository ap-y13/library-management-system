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68" r:id="rId3"/>
    <p:sldId id="271" r:id="rId4"/>
    <p:sldId id="272" r:id="rId5"/>
    <p:sldId id="274" r:id="rId6"/>
    <p:sldId id="273" r:id="rId7"/>
    <p:sldId id="275" r:id="rId8"/>
    <p:sldId id="259" r:id="rId9"/>
    <p:sldId id="269" r:id="rId10"/>
    <p:sldId id="265" r:id="rId11"/>
    <p:sldId id="270" r:id="rId12"/>
    <p:sldId id="276" r:id="rId13"/>
  </p:sldIdLst>
  <p:sldSz cx="9144000" cy="5143500" type="screen16x9"/>
  <p:notesSz cx="6858000" cy="9144000"/>
  <p:embeddedFontLst>
    <p:embeddedFont>
      <p:font typeface="Amasis MT Pro Medium" panose="02040604050005020304" pitchFamily="18" charset="0"/>
      <p:regular r:id="rId15"/>
      <p:italic r:id="rId16"/>
    </p:embeddedFont>
    <p:embeddedFont>
      <p:font typeface="Angsana New" panose="02020603050405020304" pitchFamily="18" charset="-34"/>
      <p:regular r:id="rId17"/>
      <p:bold r:id="rId18"/>
      <p:italic r:id="rId19"/>
      <p:boldItalic r:id="rId20"/>
    </p:embeddedFont>
    <p:embeddedFont>
      <p:font typeface="AngsanaUPC" panose="02020603050405020304" pitchFamily="18" charset="-34"/>
      <p:regular r:id="rId21"/>
      <p:bold r:id="rId22"/>
      <p:italic r:id="rId23"/>
      <p:boldItalic r:id="rId24"/>
    </p:embeddedFont>
    <p:embeddedFont>
      <p:font typeface="Aparajita" panose="02020603050405020304" pitchFamily="18" charset="0"/>
      <p:regular r:id="rId25"/>
      <p:bold r:id="rId26"/>
      <p:italic r:id="rId27"/>
      <p:boldItalic r:id="rId28"/>
    </p:embeddedFont>
    <p:embeddedFont>
      <p:font typeface="Arial Rounded MT Bold" panose="020F0704030504030204" pitchFamily="34" charset="0"/>
      <p:regular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wadha Patrikar" userId="11da6e19628884dc" providerId="LiveId" clId="{2B00DC72-ABC7-4981-9990-918DC7CF1915}"/>
    <pc:docChg chg="custSel modSld">
      <pc:chgData name="Awadha Patrikar" userId="11da6e19628884dc" providerId="LiveId" clId="{2B00DC72-ABC7-4981-9990-918DC7CF1915}" dt="2024-12-27T17:51:10.168" v="686" actId="14100"/>
      <pc:docMkLst>
        <pc:docMk/>
      </pc:docMkLst>
      <pc:sldChg chg="addSp modSp mod">
        <pc:chgData name="Awadha Patrikar" userId="11da6e19628884dc" providerId="LiveId" clId="{2B00DC72-ABC7-4981-9990-918DC7CF1915}" dt="2024-12-27T17:02:19.937" v="657" actId="14100"/>
        <pc:sldMkLst>
          <pc:docMk/>
          <pc:sldMk cId="0" sldId="259"/>
        </pc:sldMkLst>
        <pc:picChg chg="add mod">
          <ac:chgData name="Awadha Patrikar" userId="11da6e19628884dc" providerId="LiveId" clId="{2B00DC72-ABC7-4981-9990-918DC7CF1915}" dt="2024-12-27T17:02:19.937" v="657" actId="14100"/>
          <ac:picMkLst>
            <pc:docMk/>
            <pc:sldMk cId="0" sldId="259"/>
            <ac:picMk id="2" creationId="{83EF5966-1674-F5CF-2066-7E9DBBCF623A}"/>
          </ac:picMkLst>
        </pc:picChg>
      </pc:sldChg>
      <pc:sldChg chg="modSp mod">
        <pc:chgData name="Awadha Patrikar" userId="11da6e19628884dc" providerId="LiveId" clId="{2B00DC72-ABC7-4981-9990-918DC7CF1915}" dt="2024-12-27T17:13:24.121" v="669" actId="1076"/>
        <pc:sldMkLst>
          <pc:docMk/>
          <pc:sldMk cId="750392130" sldId="265"/>
        </pc:sldMkLst>
        <pc:spChg chg="mod">
          <ac:chgData name="Awadha Patrikar" userId="11da6e19628884dc" providerId="LiveId" clId="{2B00DC72-ABC7-4981-9990-918DC7CF1915}" dt="2024-12-27T17:13:24.121" v="669" actId="1076"/>
          <ac:spMkLst>
            <pc:docMk/>
            <pc:sldMk cId="750392130" sldId="265"/>
            <ac:spMk id="392" creationId="{00000000-0000-0000-0000-000000000000}"/>
          </ac:spMkLst>
        </pc:spChg>
        <pc:spChg chg="mod">
          <ac:chgData name="Awadha Patrikar" userId="11da6e19628884dc" providerId="LiveId" clId="{2B00DC72-ABC7-4981-9990-918DC7CF1915}" dt="2024-12-27T17:11:39.819" v="662" actId="1076"/>
          <ac:spMkLst>
            <pc:docMk/>
            <pc:sldMk cId="750392130" sldId="265"/>
            <ac:spMk id="393" creationId="{00000000-0000-0000-0000-000000000000}"/>
          </ac:spMkLst>
        </pc:spChg>
      </pc:sldChg>
      <pc:sldChg chg="addSp delSp modSp mod">
        <pc:chgData name="Awadha Patrikar" userId="11da6e19628884dc" providerId="LiveId" clId="{2B00DC72-ABC7-4981-9990-918DC7CF1915}" dt="2024-12-27T16:51:48.100" v="645" actId="1076"/>
        <pc:sldMkLst>
          <pc:docMk/>
          <pc:sldMk cId="2211034376" sldId="268"/>
        </pc:sldMkLst>
        <pc:spChg chg="add mod">
          <ac:chgData name="Awadha Patrikar" userId="11da6e19628884dc" providerId="LiveId" clId="{2B00DC72-ABC7-4981-9990-918DC7CF1915}" dt="2024-12-27T07:07:51.245" v="626" actId="5793"/>
          <ac:spMkLst>
            <pc:docMk/>
            <pc:sldMk cId="2211034376" sldId="268"/>
            <ac:spMk id="4" creationId="{EC6D09C4-000A-8163-002F-3A48C7441F18}"/>
          </ac:spMkLst>
        </pc:spChg>
        <pc:spChg chg="mod">
          <ac:chgData name="Awadha Patrikar" userId="11da6e19628884dc" providerId="LiveId" clId="{2B00DC72-ABC7-4981-9990-918DC7CF1915}" dt="2024-12-26T17:38:27.698" v="186" actId="1076"/>
          <ac:spMkLst>
            <pc:docMk/>
            <pc:sldMk cId="2211034376" sldId="268"/>
            <ac:spMk id="342" creationId="{00000000-0000-0000-0000-000000000000}"/>
          </ac:spMkLst>
        </pc:spChg>
        <pc:picChg chg="add mod">
          <ac:chgData name="Awadha Patrikar" userId="11da6e19628884dc" providerId="LiveId" clId="{2B00DC72-ABC7-4981-9990-918DC7CF1915}" dt="2024-12-27T16:51:48.100" v="645" actId="1076"/>
          <ac:picMkLst>
            <pc:docMk/>
            <pc:sldMk cId="2211034376" sldId="268"/>
            <ac:picMk id="3" creationId="{9B5D5E0F-280F-D41F-7F59-F3F4313DD42A}"/>
          </ac:picMkLst>
        </pc:picChg>
      </pc:sldChg>
      <pc:sldChg chg="addSp modSp mod">
        <pc:chgData name="Awadha Patrikar" userId="11da6e19628884dc" providerId="LiveId" clId="{2B00DC72-ABC7-4981-9990-918DC7CF1915}" dt="2024-12-27T17:51:10.168" v="686" actId="14100"/>
        <pc:sldMkLst>
          <pc:docMk/>
          <pc:sldMk cId="4152322645" sldId="270"/>
        </pc:sldMkLst>
        <pc:spChg chg="mod">
          <ac:chgData name="Awadha Patrikar" userId="11da6e19628884dc" providerId="LiveId" clId="{2B00DC72-ABC7-4981-9990-918DC7CF1915}" dt="2024-12-27T17:28:22.234" v="679" actId="14100"/>
          <ac:spMkLst>
            <pc:docMk/>
            <pc:sldMk cId="4152322645" sldId="270"/>
            <ac:spMk id="362" creationId="{00000000-0000-0000-0000-000000000000}"/>
          </ac:spMkLst>
        </pc:spChg>
        <pc:picChg chg="add mod">
          <ac:chgData name="Awadha Patrikar" userId="11da6e19628884dc" providerId="LiveId" clId="{2B00DC72-ABC7-4981-9990-918DC7CF1915}" dt="2024-12-27T17:51:10.168" v="686" actId="14100"/>
          <ac:picMkLst>
            <pc:docMk/>
            <pc:sldMk cId="4152322645" sldId="270"/>
            <ac:picMk id="2" creationId="{3D1C8008-244A-0476-E529-088212BFAD76}"/>
          </ac:picMkLst>
        </pc:picChg>
      </pc:sldChg>
      <pc:sldChg chg="modSp mod">
        <pc:chgData name="Awadha Patrikar" userId="11da6e19628884dc" providerId="LiveId" clId="{2B00DC72-ABC7-4981-9990-918DC7CF1915}" dt="2024-12-26T16:41:32.361" v="1" actId="1076"/>
        <pc:sldMkLst>
          <pc:docMk/>
          <pc:sldMk cId="1183077416" sldId="271"/>
        </pc:sldMkLst>
        <pc:spChg chg="mod">
          <ac:chgData name="Awadha Patrikar" userId="11da6e19628884dc" providerId="LiveId" clId="{2B00DC72-ABC7-4981-9990-918DC7CF1915}" dt="2024-12-26T16:41:32.361" v="1" actId="1076"/>
          <ac:spMkLst>
            <pc:docMk/>
            <pc:sldMk cId="1183077416" sldId="271"/>
            <ac:spMk id="8" creationId="{66D7F5A4-7329-8D88-BF16-A83D9EFFEE83}"/>
          </ac:spMkLst>
        </pc:spChg>
      </pc:sldChg>
    </pc:docChg>
  </pc:docChgLst>
  <pc:docChgLst>
    <pc:chgData name="Awadha Patrikar" userId="11da6e19628884dc" providerId="LiveId" clId="{094104B1-4C02-4991-ACD4-4CF6790AE85F}"/>
    <pc:docChg chg="addSld modSld">
      <pc:chgData name="Awadha Patrikar" userId="11da6e19628884dc" providerId="LiveId" clId="{094104B1-4C02-4991-ACD4-4CF6790AE85F}" dt="2025-01-09T08:05:31.714" v="4" actId="1076"/>
      <pc:docMkLst>
        <pc:docMk/>
      </pc:docMkLst>
      <pc:sldChg chg="modSp mod">
        <pc:chgData name="Awadha Patrikar" userId="11da6e19628884dc" providerId="LiveId" clId="{094104B1-4C02-4991-ACD4-4CF6790AE85F}" dt="2025-01-09T08:03:12.938" v="0" actId="1076"/>
        <pc:sldMkLst>
          <pc:docMk/>
          <pc:sldMk cId="4152322645" sldId="270"/>
        </pc:sldMkLst>
        <pc:picChg chg="mod">
          <ac:chgData name="Awadha Patrikar" userId="11da6e19628884dc" providerId="LiveId" clId="{094104B1-4C02-4991-ACD4-4CF6790AE85F}" dt="2025-01-09T08:03:12.938" v="0" actId="1076"/>
          <ac:picMkLst>
            <pc:docMk/>
            <pc:sldMk cId="4152322645" sldId="270"/>
            <ac:picMk id="2" creationId="{3D1C8008-244A-0476-E529-088212BFAD76}"/>
          </ac:picMkLst>
        </pc:picChg>
      </pc:sldChg>
      <pc:sldChg chg="addSp modSp new mod">
        <pc:chgData name="Awadha Patrikar" userId="11da6e19628884dc" providerId="LiveId" clId="{094104B1-4C02-4991-ACD4-4CF6790AE85F}" dt="2025-01-09T08:05:31.714" v="4" actId="1076"/>
        <pc:sldMkLst>
          <pc:docMk/>
          <pc:sldMk cId="4019101631" sldId="276"/>
        </pc:sldMkLst>
        <pc:spChg chg="add mod">
          <ac:chgData name="Awadha Patrikar" userId="11da6e19628884dc" providerId="LiveId" clId="{094104B1-4C02-4991-ACD4-4CF6790AE85F}" dt="2025-01-09T08:05:31.714" v="4" actId="1076"/>
          <ac:spMkLst>
            <pc:docMk/>
            <pc:sldMk cId="4019101631" sldId="276"/>
            <ac:spMk id="3" creationId="{2455802C-28B5-DD35-09ED-07BA83D2319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7223bd2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7223bd2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caee8303e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0160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8769C682-676B-8D0F-0F24-A2C81086252B}"/>
            </a:ext>
          </a:extLst>
        </p:cNvPr>
        <p:cNvGrpSpPr/>
        <p:nvPr/>
      </p:nvGrpSpPr>
      <p:grpSpPr>
        <a:xfrm>
          <a:off x="0" y="0"/>
          <a:ext cx="0" cy="0"/>
          <a:chOff x="0" y="0"/>
          <a:chExt cx="0" cy="0"/>
        </a:xfrm>
      </p:grpSpPr>
      <p:sp>
        <p:nvSpPr>
          <p:cNvPr id="337" name="Google Shape;337;gcaee8303e0_0_9:notes">
            <a:extLst>
              <a:ext uri="{FF2B5EF4-FFF2-40B4-BE49-F238E27FC236}">
                <a16:creationId xmlns:a16="http://schemas.microsoft.com/office/drawing/2014/main" id="{B6A41BE9-EE46-5BB6-5A37-02032BF76B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a:extLst>
              <a:ext uri="{FF2B5EF4-FFF2-40B4-BE49-F238E27FC236}">
                <a16:creationId xmlns:a16="http://schemas.microsoft.com/office/drawing/2014/main" id="{8A4D0260-D04F-85B5-EE4E-C94BA39838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7294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D71057B-7677-1D9C-8BF2-928D45110E6D}"/>
            </a:ext>
          </a:extLst>
        </p:cNvPr>
        <p:cNvGrpSpPr/>
        <p:nvPr/>
      </p:nvGrpSpPr>
      <p:grpSpPr>
        <a:xfrm>
          <a:off x="0" y="0"/>
          <a:ext cx="0" cy="0"/>
          <a:chOff x="0" y="0"/>
          <a:chExt cx="0" cy="0"/>
        </a:xfrm>
      </p:grpSpPr>
      <p:sp>
        <p:nvSpPr>
          <p:cNvPr id="337" name="Google Shape;337;gcaee8303e0_0_9:notes">
            <a:extLst>
              <a:ext uri="{FF2B5EF4-FFF2-40B4-BE49-F238E27FC236}">
                <a16:creationId xmlns:a16="http://schemas.microsoft.com/office/drawing/2014/main" id="{6086C635-BA38-7955-C82E-DD52291BF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a:extLst>
              <a:ext uri="{FF2B5EF4-FFF2-40B4-BE49-F238E27FC236}">
                <a16:creationId xmlns:a16="http://schemas.microsoft.com/office/drawing/2014/main" id="{A97B4D15-897F-26AA-7423-45DBF956B6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2576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295AB1DA-CBA6-F44B-4705-1CE9F1D85D5F}"/>
            </a:ext>
          </a:extLst>
        </p:cNvPr>
        <p:cNvGrpSpPr/>
        <p:nvPr/>
      </p:nvGrpSpPr>
      <p:grpSpPr>
        <a:xfrm>
          <a:off x="0" y="0"/>
          <a:ext cx="0" cy="0"/>
          <a:chOff x="0" y="0"/>
          <a:chExt cx="0" cy="0"/>
        </a:xfrm>
      </p:grpSpPr>
      <p:sp>
        <p:nvSpPr>
          <p:cNvPr id="337" name="Google Shape;337;gcaee8303e0_0_9:notes">
            <a:extLst>
              <a:ext uri="{FF2B5EF4-FFF2-40B4-BE49-F238E27FC236}">
                <a16:creationId xmlns:a16="http://schemas.microsoft.com/office/drawing/2014/main" id="{2A5FBD33-1432-F178-F6E0-BCEA48693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a:extLst>
              <a:ext uri="{FF2B5EF4-FFF2-40B4-BE49-F238E27FC236}">
                <a16:creationId xmlns:a16="http://schemas.microsoft.com/office/drawing/2014/main" id="{062F4E08-78F7-2FD0-7BDC-009826ABC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3349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A32572C1-5F68-3F09-C58B-E171C33700B8}"/>
            </a:ext>
          </a:extLst>
        </p:cNvPr>
        <p:cNvGrpSpPr/>
        <p:nvPr/>
      </p:nvGrpSpPr>
      <p:grpSpPr>
        <a:xfrm>
          <a:off x="0" y="0"/>
          <a:ext cx="0" cy="0"/>
          <a:chOff x="0" y="0"/>
          <a:chExt cx="0" cy="0"/>
        </a:xfrm>
      </p:grpSpPr>
      <p:sp>
        <p:nvSpPr>
          <p:cNvPr id="337" name="Google Shape;337;gcaee8303e0_0_9:notes">
            <a:extLst>
              <a:ext uri="{FF2B5EF4-FFF2-40B4-BE49-F238E27FC236}">
                <a16:creationId xmlns:a16="http://schemas.microsoft.com/office/drawing/2014/main" id="{A19F40E5-6005-D312-0ADF-0C800A5321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a:extLst>
              <a:ext uri="{FF2B5EF4-FFF2-40B4-BE49-F238E27FC236}">
                <a16:creationId xmlns:a16="http://schemas.microsoft.com/office/drawing/2014/main" id="{A8AA02B1-F2A0-ACB5-C35E-3C24369399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7743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57BFD82D-9EB8-2450-6923-2B5576364E33}"/>
            </a:ext>
          </a:extLst>
        </p:cNvPr>
        <p:cNvGrpSpPr/>
        <p:nvPr/>
      </p:nvGrpSpPr>
      <p:grpSpPr>
        <a:xfrm>
          <a:off x="0" y="0"/>
          <a:ext cx="0" cy="0"/>
          <a:chOff x="0" y="0"/>
          <a:chExt cx="0" cy="0"/>
        </a:xfrm>
      </p:grpSpPr>
      <p:sp>
        <p:nvSpPr>
          <p:cNvPr id="337" name="Google Shape;337;gcaee8303e0_0_9:notes">
            <a:extLst>
              <a:ext uri="{FF2B5EF4-FFF2-40B4-BE49-F238E27FC236}">
                <a16:creationId xmlns:a16="http://schemas.microsoft.com/office/drawing/2014/main" id="{545AA3AF-D64A-40E0-06C6-39F99DE1E5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a:extLst>
              <a:ext uri="{FF2B5EF4-FFF2-40B4-BE49-F238E27FC236}">
                <a16:creationId xmlns:a16="http://schemas.microsoft.com/office/drawing/2014/main" id="{393608C6-56E8-E9E9-5209-E8EE9878AC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5962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b7223bd2a0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9932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6727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2343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30" name="Google Shape;330;p13"/>
          <p:cNvSpPr txBox="1"/>
          <p:nvPr/>
        </p:nvSpPr>
        <p:spPr>
          <a:xfrm>
            <a:off x="153150" y="1642206"/>
            <a:ext cx="8520600" cy="13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000" b="1" dirty="0">
                <a:solidFill>
                  <a:srgbClr val="FF6A0E"/>
                </a:solidFill>
                <a:latin typeface="Roboto" panose="02000000000000000000" pitchFamily="2" charset="0"/>
                <a:ea typeface="Roboto" panose="02000000000000000000" pitchFamily="2" charset="0"/>
                <a:cs typeface="Roboto" panose="02000000000000000000" pitchFamily="2" charset="0"/>
              </a:rPr>
              <a:t>L</a:t>
            </a:r>
            <a:r>
              <a:rPr lang="en-IN" sz="4000" b="1" dirty="0">
                <a:solidFill>
                  <a:srgbClr val="FF6A0E"/>
                </a:solidFill>
                <a:latin typeface="Roboto" panose="02000000000000000000" pitchFamily="2" charset="0"/>
                <a:ea typeface="Roboto" panose="02000000000000000000" pitchFamily="2" charset="0"/>
                <a:cs typeface="Roboto" panose="02000000000000000000" pitchFamily="2" charset="0"/>
              </a:rPr>
              <a:t>ibrary Management System </a:t>
            </a:r>
          </a:p>
          <a:p>
            <a:pPr marL="0" lvl="0" indent="0" algn="ctr" rtl="0">
              <a:spcBef>
                <a:spcPts val="0"/>
              </a:spcBef>
              <a:spcAft>
                <a:spcPts val="0"/>
              </a:spcAft>
              <a:buNone/>
            </a:pPr>
            <a:endParaRPr sz="4000" b="1" dirty="0">
              <a:solidFill>
                <a:srgbClr val="FF6A0E"/>
              </a:solidFill>
              <a:latin typeface="Roboto" panose="02000000000000000000" pitchFamily="2" charset="0"/>
              <a:ea typeface="Roboto" panose="02000000000000000000" pitchFamily="2" charset="0"/>
              <a:cs typeface="Roboto" panose="02000000000000000000" pitchFamily="2" charset="0"/>
            </a:endParaRPr>
          </a:p>
        </p:txBody>
      </p:sp>
      <p:sp>
        <p:nvSpPr>
          <p:cNvPr id="334" name="Google Shape;334;p13"/>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lnSpc>
                <a:spcPct val="100000"/>
              </a:lnSpc>
              <a:spcBef>
                <a:spcPts val="0"/>
              </a:spcBef>
              <a:spcAft>
                <a:spcPts val="0"/>
              </a:spcAft>
              <a:buClr>
                <a:srgbClr val="000000"/>
              </a:buClr>
              <a:buSzPts val="1200"/>
              <a:buFont typeface="Arial"/>
              <a:buNone/>
            </a:pPr>
            <a:r>
              <a:rPr lang="en-GB" sz="1200" b="0" i="0" u="none" strike="noStrike" cap="none">
                <a:solidFill>
                  <a:srgbClr val="FFFFFF"/>
                </a:solidFill>
                <a:latin typeface="Roboto"/>
                <a:ea typeface="Roboto"/>
                <a:cs typeface="Roboto"/>
                <a:sym typeface="Roboto"/>
              </a:rPr>
              <a:t>© All rights reserved by Fireblaze Technologies Pvt. Ltd.</a:t>
            </a:r>
            <a:endParaRPr sz="1200" b="0" i="0" u="none" strike="noStrike" cap="none">
              <a:solidFill>
                <a:srgbClr val="FFFFFF"/>
              </a:solidFill>
              <a:latin typeface="Roboto"/>
              <a:ea typeface="Roboto"/>
              <a:cs typeface="Roboto"/>
              <a:sym typeface="Roboto"/>
            </a:endParaRPr>
          </a:p>
        </p:txBody>
      </p:sp>
      <p:sp>
        <p:nvSpPr>
          <p:cNvPr id="335" name="Google Shape;335;p13"/>
          <p:cNvSpPr/>
          <p:nvPr/>
        </p:nvSpPr>
        <p:spPr>
          <a:xfrm>
            <a:off x="-1005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4D63B57-2B6C-4AEF-AA4E-F393A4E8B2DF}"/>
              </a:ext>
            </a:extLst>
          </p:cNvPr>
          <p:cNvSpPr txBox="1"/>
          <p:nvPr/>
        </p:nvSpPr>
        <p:spPr>
          <a:xfrm>
            <a:off x="6471138" y="4031285"/>
            <a:ext cx="2672862" cy="400110"/>
          </a:xfrm>
          <a:prstGeom prst="rect">
            <a:avLst/>
          </a:prstGeom>
          <a:noFill/>
        </p:spPr>
        <p:txBody>
          <a:bodyPr wrap="square" rtlCol="0">
            <a:spAutoFit/>
          </a:bodyPr>
          <a:lstStyle/>
          <a:p>
            <a:r>
              <a:rPr lang="en-IN" sz="2000" b="1" dirty="0">
                <a:solidFill>
                  <a:srgbClr val="FF6A0E"/>
                </a:solidFill>
                <a:latin typeface="Roboto" panose="02000000000000000000" pitchFamily="2" charset="0"/>
                <a:ea typeface="Roboto" panose="02000000000000000000" pitchFamily="2" charset="0"/>
                <a:cs typeface="Roboto" panose="02000000000000000000" pitchFamily="2" charset="0"/>
              </a:rPr>
              <a:t>- Awadha Patrikar</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5446" y="129243"/>
            <a:ext cx="636607" cy="550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14"/>
          <p:cNvSpPr txBox="1">
            <a:spLocks noGrp="1"/>
          </p:cNvSpPr>
          <p:nvPr>
            <p:ph type="ctrTitle"/>
          </p:nvPr>
        </p:nvSpPr>
        <p:spPr>
          <a:xfrm>
            <a:off x="10050" y="-46610"/>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Project   Overview</a:t>
            </a:r>
            <a:endParaRPr sz="3000" b="1" dirty="0">
              <a:solidFill>
                <a:srgbClr val="FFFFFF"/>
              </a:solidFill>
              <a:latin typeface="Roboto"/>
              <a:ea typeface="Roboto"/>
              <a:cs typeface="Roboto"/>
              <a:sym typeface="Roboto"/>
            </a:endParaRPr>
          </a:p>
        </p:txBody>
      </p:sp>
      <p:sp>
        <p:nvSpPr>
          <p:cNvPr id="342" name="Google Shape;342;p14"/>
          <p:cNvSpPr txBox="1"/>
          <p:nvPr/>
        </p:nvSpPr>
        <p:spPr>
          <a:xfrm>
            <a:off x="-199968" y="471907"/>
            <a:ext cx="9047586" cy="1442238"/>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r>
              <a:rPr lang="en-US" sz="1600"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rPr>
              <a:t>The Library Management System (LMS) project uses MySQL to manage library operations like book rentals, memberships, and employee details. It involves creating a database, importing data, and running queries to analyze performance and optimize operations.</a:t>
            </a:r>
            <a:endParaRPr sz="1600"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endParaRPr>
          </a:p>
        </p:txBody>
      </p:sp>
      <p:sp>
        <p:nvSpPr>
          <p:cNvPr id="343" name="Google Shape;343;p14"/>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EC6D09C4-000A-8163-002F-3A48C7441F18}"/>
              </a:ext>
            </a:extLst>
          </p:cNvPr>
          <p:cNvSpPr txBox="1"/>
          <p:nvPr/>
        </p:nvSpPr>
        <p:spPr>
          <a:xfrm>
            <a:off x="326400" y="2069955"/>
            <a:ext cx="7019280" cy="523220"/>
          </a:xfrm>
          <a:prstGeom prst="rect">
            <a:avLst/>
          </a:prstGeom>
          <a:noFill/>
        </p:spPr>
        <p:txBody>
          <a:bodyPr wrap="square">
            <a:spAutoFit/>
          </a:bodyPr>
          <a:lstStyle/>
          <a:p>
            <a:endParaRPr lang="en-US" dirty="0"/>
          </a:p>
          <a:p>
            <a:endParaRPr lang="en-US" dirty="0"/>
          </a:p>
        </p:txBody>
      </p:sp>
      <p:pic>
        <p:nvPicPr>
          <p:cNvPr id="3" name="Picture 2">
            <a:extLst>
              <a:ext uri="{FF2B5EF4-FFF2-40B4-BE49-F238E27FC236}">
                <a16:creationId xmlns:a16="http://schemas.microsoft.com/office/drawing/2014/main" id="{9B5D5E0F-280F-D41F-7F59-F3F4313DD42A}"/>
              </a:ext>
            </a:extLst>
          </p:cNvPr>
          <p:cNvPicPr>
            <a:picLocks noChangeAspect="1"/>
          </p:cNvPicPr>
          <p:nvPr/>
        </p:nvPicPr>
        <p:blipFill>
          <a:blip r:embed="rId3"/>
          <a:stretch>
            <a:fillRect/>
          </a:stretch>
        </p:blipFill>
        <p:spPr>
          <a:xfrm>
            <a:off x="1234831" y="2043152"/>
            <a:ext cx="6377354" cy="2757448"/>
          </a:xfrm>
          <a:prstGeom prst="rect">
            <a:avLst/>
          </a:prstGeom>
        </p:spPr>
      </p:pic>
    </p:spTree>
    <p:extLst>
      <p:ext uri="{BB962C8B-B14F-4D97-AF65-F5344CB8AC3E}">
        <p14:creationId xmlns:p14="http://schemas.microsoft.com/office/powerpoint/2010/main" val="2211034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71C66E67-2EA7-CD6E-DEC1-D1065A4EC854}"/>
            </a:ext>
          </a:extLst>
        </p:cNvPr>
        <p:cNvGrpSpPr/>
        <p:nvPr/>
      </p:nvGrpSpPr>
      <p:grpSpPr>
        <a:xfrm>
          <a:off x="0" y="0"/>
          <a:ext cx="0" cy="0"/>
          <a:chOff x="0" y="0"/>
          <a:chExt cx="0" cy="0"/>
        </a:xfrm>
      </p:grpSpPr>
      <p:sp>
        <p:nvSpPr>
          <p:cNvPr id="341" name="Google Shape;341;p14">
            <a:extLst>
              <a:ext uri="{FF2B5EF4-FFF2-40B4-BE49-F238E27FC236}">
                <a16:creationId xmlns:a16="http://schemas.microsoft.com/office/drawing/2014/main" id="{D143CB53-D20C-93BC-0DD2-9C0474151806}"/>
              </a:ext>
            </a:extLst>
          </p:cNvPr>
          <p:cNvSpPr txBox="1">
            <a:spLocks noGrp="1"/>
          </p:cNvSpPr>
          <p:nvPr>
            <p:ph type="ctrTitle"/>
          </p:nvPr>
        </p:nvSpPr>
        <p:spPr>
          <a:xfrm>
            <a:off x="-10050" y="-46610"/>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a:extLst>
              <a:ext uri="{FF2B5EF4-FFF2-40B4-BE49-F238E27FC236}">
                <a16:creationId xmlns:a16="http://schemas.microsoft.com/office/drawing/2014/main" id="{920336BF-EAD2-1217-2D13-D9F00B326612}"/>
              </a:ext>
            </a:extLst>
          </p:cNvPr>
          <p:cNvSpPr txBox="1"/>
          <p:nvPr/>
        </p:nvSpPr>
        <p:spPr>
          <a:xfrm>
            <a:off x="163200" y="2571750"/>
            <a:ext cx="8403773" cy="3579792"/>
          </a:xfrm>
          <a:prstGeom prst="rect">
            <a:avLst/>
          </a:prstGeom>
          <a:noFill/>
          <a:ln>
            <a:noFill/>
          </a:ln>
        </p:spPr>
        <p:txBody>
          <a:bodyPr spcFirstLastPara="1" wrap="square" lIns="274300" tIns="274300" rIns="274300" bIns="274300" anchor="t" anchorCtr="0">
            <a:noAutofit/>
          </a:bodyPr>
          <a:lstStyle/>
          <a:p>
            <a:r>
              <a:rPr lang="en-US" dirty="0">
                <a:latin typeface="Amasis MT Pro Medium" panose="02040604050005020304" pitchFamily="18" charset="0"/>
                <a:cs typeface="Aparajita" panose="020B0502040204020203" pitchFamily="18" charset="0"/>
              </a:rPr>
              <a:t>2.  What is the total rental income generated by all books? </a:t>
            </a:r>
          </a:p>
        </p:txBody>
      </p:sp>
      <p:sp>
        <p:nvSpPr>
          <p:cNvPr id="343" name="Google Shape;343;p14">
            <a:extLst>
              <a:ext uri="{FF2B5EF4-FFF2-40B4-BE49-F238E27FC236}">
                <a16:creationId xmlns:a16="http://schemas.microsoft.com/office/drawing/2014/main" id="{BCE54206-9A85-67EC-D158-8C87912D7FB0}"/>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a:extLst>
              <a:ext uri="{FF2B5EF4-FFF2-40B4-BE49-F238E27FC236}">
                <a16:creationId xmlns:a16="http://schemas.microsoft.com/office/drawing/2014/main" id="{94D67F28-7C1B-B745-8DC2-60DF34BF02BF}"/>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a:extLst>
              <a:ext uri="{FF2B5EF4-FFF2-40B4-BE49-F238E27FC236}">
                <a16:creationId xmlns:a16="http://schemas.microsoft.com/office/drawing/2014/main" id="{4BFED683-E424-CDB7-E7E8-0EBCF326CA8B}"/>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D2FC48E8-10E3-9675-80E4-130E52707715}"/>
              </a:ext>
            </a:extLst>
          </p:cNvPr>
          <p:cNvSpPr txBox="1"/>
          <p:nvPr/>
        </p:nvSpPr>
        <p:spPr>
          <a:xfrm>
            <a:off x="326400" y="861527"/>
            <a:ext cx="5668000" cy="307777"/>
          </a:xfrm>
          <a:prstGeom prst="rect">
            <a:avLst/>
          </a:prstGeom>
          <a:noFill/>
        </p:spPr>
        <p:txBody>
          <a:bodyPr wrap="square">
            <a:spAutoFit/>
          </a:bodyPr>
          <a:lstStyle/>
          <a:p>
            <a:r>
              <a:rPr lang="en-US" dirty="0">
                <a:latin typeface="Arial Rounded MT Bold" panose="020F0704030504030204" pitchFamily="34" charset="0"/>
                <a:cs typeface="Aharoni" panose="020F0502020204030204" pitchFamily="2" charset="-79"/>
              </a:rPr>
              <a:t>1</a:t>
            </a:r>
            <a:r>
              <a:rPr lang="en-US" dirty="0">
                <a:latin typeface="Amasis MT Pro Medium" panose="02040604050005020304" pitchFamily="18" charset="0"/>
                <a:cs typeface="Aharoni" panose="020F0502020204030204" pitchFamily="2" charset="-79"/>
              </a:rPr>
              <a:t>.  How many books are currently available in the library? </a:t>
            </a:r>
            <a:endParaRPr lang="en-IN" dirty="0">
              <a:latin typeface="Amasis MT Pro Medium" panose="02040604050005020304" pitchFamily="18" charset="0"/>
              <a:cs typeface="Aharoni" panose="020F0502020204030204" pitchFamily="2" charset="-79"/>
            </a:endParaRPr>
          </a:p>
        </p:txBody>
      </p:sp>
      <p:pic>
        <p:nvPicPr>
          <p:cNvPr id="4" name="Picture 3">
            <a:extLst>
              <a:ext uri="{FF2B5EF4-FFF2-40B4-BE49-F238E27FC236}">
                <a16:creationId xmlns:a16="http://schemas.microsoft.com/office/drawing/2014/main" id="{3F059C05-12DE-A178-803A-1530ECC07F23}"/>
              </a:ext>
            </a:extLst>
          </p:cNvPr>
          <p:cNvPicPr>
            <a:picLocks noChangeAspect="1"/>
          </p:cNvPicPr>
          <p:nvPr/>
        </p:nvPicPr>
        <p:blipFill>
          <a:blip r:embed="rId3"/>
          <a:stretch>
            <a:fillRect/>
          </a:stretch>
        </p:blipFill>
        <p:spPr>
          <a:xfrm>
            <a:off x="5431691" y="1674460"/>
            <a:ext cx="2399323" cy="592002"/>
          </a:xfrm>
          <a:prstGeom prst="rect">
            <a:avLst/>
          </a:prstGeom>
        </p:spPr>
      </p:pic>
      <p:sp>
        <p:nvSpPr>
          <p:cNvPr id="8" name="TextBox 7">
            <a:extLst>
              <a:ext uri="{FF2B5EF4-FFF2-40B4-BE49-F238E27FC236}">
                <a16:creationId xmlns:a16="http://schemas.microsoft.com/office/drawing/2014/main" id="{66D7F5A4-7329-8D88-BF16-A83D9EFFEE83}"/>
              </a:ext>
            </a:extLst>
          </p:cNvPr>
          <p:cNvSpPr txBox="1"/>
          <p:nvPr/>
        </p:nvSpPr>
        <p:spPr>
          <a:xfrm>
            <a:off x="577027" y="1600918"/>
            <a:ext cx="4579814" cy="646331"/>
          </a:xfrm>
          <a:prstGeom prst="rect">
            <a:avLst/>
          </a:prstGeom>
          <a:noFill/>
        </p:spPr>
        <p:txBody>
          <a:bodyPr wrap="square">
            <a:spAutoFit/>
          </a:bodyPr>
          <a:lstStyle/>
          <a:p>
            <a:r>
              <a:rPr lang="en-US" sz="1800" dirty="0">
                <a:latin typeface="Angsana New" panose="020B0502040204020203" pitchFamily="18" charset="-34"/>
                <a:cs typeface="Angsana New" panose="020B0502040204020203" pitchFamily="18" charset="-34"/>
              </a:rPr>
              <a:t>SELECT COUNT(*) AS </a:t>
            </a:r>
            <a:r>
              <a:rPr lang="en-US" sz="1800" dirty="0" err="1">
                <a:latin typeface="Angsana New" panose="020B0502040204020203" pitchFamily="18" charset="-34"/>
                <a:cs typeface="Angsana New" panose="020B0502040204020203" pitchFamily="18" charset="-34"/>
              </a:rPr>
              <a:t>available_books</a:t>
            </a:r>
            <a:r>
              <a:rPr lang="en-US" sz="1800" dirty="0">
                <a:latin typeface="Angsana New" panose="020B0502040204020203" pitchFamily="18" charset="-34"/>
                <a:cs typeface="Angsana New" panose="020B0502040204020203" pitchFamily="18" charset="-34"/>
              </a:rPr>
              <a:t> FROM </a:t>
            </a:r>
            <a:r>
              <a:rPr lang="en-US" sz="1800" dirty="0" err="1">
                <a:latin typeface="Angsana New" panose="020B0502040204020203" pitchFamily="18" charset="-34"/>
                <a:cs typeface="Angsana New" panose="020B0502040204020203" pitchFamily="18" charset="-34"/>
              </a:rPr>
              <a:t>booksWHERE</a:t>
            </a:r>
            <a:r>
              <a:rPr lang="en-US" sz="1800" dirty="0">
                <a:latin typeface="Angsana New" panose="020B0502040204020203" pitchFamily="18" charset="-34"/>
                <a:cs typeface="Angsana New" panose="020B0502040204020203" pitchFamily="18" charset="-34"/>
              </a:rPr>
              <a:t> status='yes';</a:t>
            </a:r>
            <a:endParaRPr lang="en-IN" sz="1800" dirty="0">
              <a:latin typeface="Angsana New" panose="020B0502040204020203" pitchFamily="18" charset="-34"/>
              <a:cs typeface="Angsana New" panose="020B0502040204020203" pitchFamily="18" charset="-34"/>
            </a:endParaRPr>
          </a:p>
        </p:txBody>
      </p:sp>
      <p:pic>
        <p:nvPicPr>
          <p:cNvPr id="9" name="Picture 8">
            <a:extLst>
              <a:ext uri="{FF2B5EF4-FFF2-40B4-BE49-F238E27FC236}">
                <a16:creationId xmlns:a16="http://schemas.microsoft.com/office/drawing/2014/main" id="{A235A5C2-2B58-0668-A976-8809F49047B0}"/>
              </a:ext>
            </a:extLst>
          </p:cNvPr>
          <p:cNvPicPr>
            <a:picLocks noChangeAspect="1"/>
          </p:cNvPicPr>
          <p:nvPr/>
        </p:nvPicPr>
        <p:blipFill>
          <a:blip r:embed="rId4"/>
          <a:stretch>
            <a:fillRect/>
          </a:stretch>
        </p:blipFill>
        <p:spPr>
          <a:xfrm>
            <a:off x="5552097" y="3759386"/>
            <a:ext cx="1981933" cy="609600"/>
          </a:xfrm>
          <a:prstGeom prst="rect">
            <a:avLst/>
          </a:prstGeom>
        </p:spPr>
      </p:pic>
      <p:sp>
        <p:nvSpPr>
          <p:cNvPr id="11" name="TextBox 10">
            <a:extLst>
              <a:ext uri="{FF2B5EF4-FFF2-40B4-BE49-F238E27FC236}">
                <a16:creationId xmlns:a16="http://schemas.microsoft.com/office/drawing/2014/main" id="{084E1F07-AAE6-9A86-1111-02D5E285D547}"/>
              </a:ext>
            </a:extLst>
          </p:cNvPr>
          <p:cNvSpPr txBox="1"/>
          <p:nvPr/>
        </p:nvSpPr>
        <p:spPr>
          <a:xfrm>
            <a:off x="577027" y="3839753"/>
            <a:ext cx="5223459" cy="338554"/>
          </a:xfrm>
          <a:prstGeom prst="rect">
            <a:avLst/>
          </a:prstGeom>
          <a:noFill/>
        </p:spPr>
        <p:txBody>
          <a:bodyPr wrap="square">
            <a:spAutoFit/>
          </a:bodyPr>
          <a:lstStyle/>
          <a:p>
            <a:r>
              <a:rPr lang="en-US" sz="1600" dirty="0">
                <a:latin typeface="Aparajita" panose="02020603050405020304" pitchFamily="18" charset="0"/>
                <a:cs typeface="Aparajita" panose="02020603050405020304" pitchFamily="18" charset="0"/>
              </a:rPr>
              <a:t>SELECT SUM(</a:t>
            </a:r>
            <a:r>
              <a:rPr lang="en-US" sz="1600" dirty="0" err="1">
                <a:latin typeface="Aparajita" panose="02020603050405020304" pitchFamily="18" charset="0"/>
                <a:cs typeface="Aparajita" panose="02020603050405020304" pitchFamily="18" charset="0"/>
              </a:rPr>
              <a:t>rental_price</a:t>
            </a:r>
            <a:r>
              <a:rPr lang="en-US" sz="1600" dirty="0">
                <a:latin typeface="Aparajita" panose="02020603050405020304" pitchFamily="18" charset="0"/>
                <a:cs typeface="Aparajita" panose="02020603050405020304" pitchFamily="18" charset="0"/>
              </a:rPr>
              <a:t>) as </a:t>
            </a:r>
            <a:r>
              <a:rPr lang="en-US" sz="1600" dirty="0" err="1">
                <a:latin typeface="Aparajita" panose="02020603050405020304" pitchFamily="18" charset="0"/>
                <a:cs typeface="Aparajita" panose="02020603050405020304" pitchFamily="18" charset="0"/>
              </a:rPr>
              <a:t>total_rental_price</a:t>
            </a:r>
            <a:r>
              <a:rPr lang="en-US" sz="1600" dirty="0">
                <a:latin typeface="Aparajita" panose="02020603050405020304" pitchFamily="18" charset="0"/>
                <a:cs typeface="Aparajita" panose="02020603050405020304" pitchFamily="18" charset="0"/>
              </a:rPr>
              <a:t> from books;</a:t>
            </a:r>
            <a:endParaRPr lang="en-IN" sz="16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183077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C55C4A80-232C-7E7F-9499-F6B6D6309734}"/>
            </a:ext>
          </a:extLst>
        </p:cNvPr>
        <p:cNvGrpSpPr/>
        <p:nvPr/>
      </p:nvGrpSpPr>
      <p:grpSpPr>
        <a:xfrm>
          <a:off x="0" y="0"/>
          <a:ext cx="0" cy="0"/>
          <a:chOff x="0" y="0"/>
          <a:chExt cx="0" cy="0"/>
        </a:xfrm>
      </p:grpSpPr>
      <p:sp>
        <p:nvSpPr>
          <p:cNvPr id="341" name="Google Shape;341;p14">
            <a:extLst>
              <a:ext uri="{FF2B5EF4-FFF2-40B4-BE49-F238E27FC236}">
                <a16:creationId xmlns:a16="http://schemas.microsoft.com/office/drawing/2014/main" id="{C04B4789-1854-C7A6-3B8F-B51A7AB3BAB8}"/>
              </a:ext>
            </a:extLst>
          </p:cNvPr>
          <p:cNvSpPr txBox="1">
            <a:spLocks noGrp="1"/>
          </p:cNvSpPr>
          <p:nvPr>
            <p:ph type="ctrTitle"/>
          </p:nvPr>
        </p:nvSpPr>
        <p:spPr>
          <a:xfrm>
            <a:off x="-10050" y="-9538"/>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a:extLst>
              <a:ext uri="{FF2B5EF4-FFF2-40B4-BE49-F238E27FC236}">
                <a16:creationId xmlns:a16="http://schemas.microsoft.com/office/drawing/2014/main" id="{774C5B97-477C-C48B-08BE-115F1B986FA5}"/>
              </a:ext>
            </a:extLst>
          </p:cNvPr>
          <p:cNvSpPr txBox="1"/>
          <p:nvPr/>
        </p:nvSpPr>
        <p:spPr>
          <a:xfrm>
            <a:off x="-20100" y="568518"/>
            <a:ext cx="6710069" cy="710760"/>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r>
              <a:rPr lang="en-US"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rPr>
              <a:t>3.  Which branch has the highest number of employees? </a:t>
            </a:r>
            <a:endParaRPr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endParaRPr>
          </a:p>
        </p:txBody>
      </p:sp>
      <p:sp>
        <p:nvSpPr>
          <p:cNvPr id="343" name="Google Shape;343;p14">
            <a:extLst>
              <a:ext uri="{FF2B5EF4-FFF2-40B4-BE49-F238E27FC236}">
                <a16:creationId xmlns:a16="http://schemas.microsoft.com/office/drawing/2014/main" id="{D67451D9-4E7D-A312-6E92-5597A62C87AA}"/>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a:extLst>
              <a:ext uri="{FF2B5EF4-FFF2-40B4-BE49-F238E27FC236}">
                <a16:creationId xmlns:a16="http://schemas.microsoft.com/office/drawing/2014/main" id="{0AFC2808-963F-0615-B661-3112DA69A3B1}"/>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a:extLst>
              <a:ext uri="{FF2B5EF4-FFF2-40B4-BE49-F238E27FC236}">
                <a16:creationId xmlns:a16="http://schemas.microsoft.com/office/drawing/2014/main" id="{BF7221BA-361C-1499-0097-8CE578621310}"/>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E95BD7BB-46C4-9566-11EA-526532926CDD}"/>
              </a:ext>
            </a:extLst>
          </p:cNvPr>
          <p:cNvSpPr txBox="1"/>
          <p:nvPr/>
        </p:nvSpPr>
        <p:spPr>
          <a:xfrm>
            <a:off x="326400" y="2571750"/>
            <a:ext cx="6357814" cy="307777"/>
          </a:xfrm>
          <a:prstGeom prst="rect">
            <a:avLst/>
          </a:prstGeom>
          <a:noFill/>
        </p:spPr>
        <p:txBody>
          <a:bodyPr wrap="square">
            <a:spAutoFit/>
          </a:bodyPr>
          <a:lstStyle/>
          <a:p>
            <a:r>
              <a:rPr lang="en-US" dirty="0">
                <a:latin typeface="Amasis MT Pro Medium" panose="02040604050005020304" pitchFamily="18" charset="0"/>
              </a:rPr>
              <a:t>4.  Which books have been issued the most?</a:t>
            </a:r>
            <a:endParaRPr lang="en-IN" dirty="0">
              <a:latin typeface="Amasis MT Pro Medium" panose="02040604050005020304" pitchFamily="18" charset="0"/>
            </a:endParaRPr>
          </a:p>
        </p:txBody>
      </p:sp>
      <p:sp>
        <p:nvSpPr>
          <p:cNvPr id="5" name="TextBox 4">
            <a:extLst>
              <a:ext uri="{FF2B5EF4-FFF2-40B4-BE49-F238E27FC236}">
                <a16:creationId xmlns:a16="http://schemas.microsoft.com/office/drawing/2014/main" id="{113AD929-C134-8839-C04F-24836AE175FE}"/>
              </a:ext>
            </a:extLst>
          </p:cNvPr>
          <p:cNvSpPr txBox="1"/>
          <p:nvPr/>
        </p:nvSpPr>
        <p:spPr>
          <a:xfrm>
            <a:off x="326400" y="1488002"/>
            <a:ext cx="4587630" cy="584775"/>
          </a:xfrm>
          <a:prstGeom prst="rect">
            <a:avLst/>
          </a:prstGeom>
          <a:noFill/>
        </p:spPr>
        <p:txBody>
          <a:bodyPr wrap="square">
            <a:spAutoFit/>
          </a:bodyPr>
          <a:lstStyle/>
          <a:p>
            <a:r>
              <a:rPr lang="en-US" sz="1600" dirty="0">
                <a:latin typeface="AngsanaUPC" panose="020B0502040204020203" pitchFamily="18" charset="-34"/>
                <a:cs typeface="AngsanaUPC" panose="020B0502040204020203" pitchFamily="18" charset="-34"/>
              </a:rPr>
              <a:t>SELECT </a:t>
            </a:r>
            <a:r>
              <a:rPr lang="en-US" sz="1600" dirty="0" err="1">
                <a:latin typeface="AngsanaUPC" panose="020B0502040204020203" pitchFamily="18" charset="-34"/>
                <a:cs typeface="AngsanaUPC" panose="020B0502040204020203" pitchFamily="18" charset="-34"/>
              </a:rPr>
              <a:t>branch_id</a:t>
            </a:r>
            <a:r>
              <a:rPr lang="en-US" sz="1600" dirty="0">
                <a:latin typeface="AngsanaUPC" panose="020B0502040204020203" pitchFamily="18" charset="-34"/>
                <a:cs typeface="AngsanaUPC" panose="020B0502040204020203" pitchFamily="18" charset="-34"/>
              </a:rPr>
              <a:t>, COUNT(*) AS </a:t>
            </a:r>
            <a:r>
              <a:rPr lang="en-US" sz="1600" dirty="0" err="1">
                <a:latin typeface="AngsanaUPC" panose="020B0502040204020203" pitchFamily="18" charset="-34"/>
                <a:cs typeface="AngsanaUPC" panose="020B0502040204020203" pitchFamily="18" charset="-34"/>
              </a:rPr>
              <a:t>employee_count</a:t>
            </a:r>
            <a:r>
              <a:rPr lang="en-US" sz="1600" dirty="0">
                <a:latin typeface="AngsanaUPC" panose="020B0502040204020203" pitchFamily="18" charset="-34"/>
                <a:cs typeface="AngsanaUPC" panose="020B0502040204020203" pitchFamily="18" charset="-34"/>
              </a:rPr>
              <a:t> FROM Employees GROUP BY </a:t>
            </a:r>
            <a:r>
              <a:rPr lang="en-US" sz="1600" dirty="0" err="1">
                <a:latin typeface="AngsanaUPC" panose="020B0502040204020203" pitchFamily="18" charset="-34"/>
                <a:cs typeface="AngsanaUPC" panose="020B0502040204020203" pitchFamily="18" charset="-34"/>
              </a:rPr>
              <a:t>branch_id</a:t>
            </a:r>
            <a:r>
              <a:rPr lang="en-US" sz="1600" dirty="0">
                <a:latin typeface="AngsanaUPC" panose="020B0502040204020203" pitchFamily="18" charset="-34"/>
                <a:cs typeface="AngsanaUPC" panose="020B0502040204020203" pitchFamily="18" charset="-34"/>
              </a:rPr>
              <a:t> ORDER BY </a:t>
            </a:r>
            <a:r>
              <a:rPr lang="en-US" sz="1600" dirty="0" err="1">
                <a:latin typeface="AngsanaUPC" panose="020B0502040204020203" pitchFamily="18" charset="-34"/>
                <a:cs typeface="AngsanaUPC" panose="020B0502040204020203" pitchFamily="18" charset="-34"/>
              </a:rPr>
              <a:t>employee_count</a:t>
            </a:r>
            <a:r>
              <a:rPr lang="en-US" sz="1600" dirty="0">
                <a:latin typeface="AngsanaUPC" panose="020B0502040204020203" pitchFamily="18" charset="-34"/>
                <a:cs typeface="AngsanaUPC" panose="020B0502040204020203" pitchFamily="18" charset="-34"/>
              </a:rPr>
              <a:t> DESC LIMIT 1;</a:t>
            </a:r>
            <a:endParaRPr lang="en-IN" sz="1600" dirty="0">
              <a:latin typeface="AngsanaUPC" panose="020B0502040204020203" pitchFamily="18" charset="-34"/>
              <a:cs typeface="AngsanaUPC" panose="020B0502040204020203" pitchFamily="18" charset="-34"/>
            </a:endParaRPr>
          </a:p>
        </p:txBody>
      </p:sp>
      <p:sp>
        <p:nvSpPr>
          <p:cNvPr id="7" name="TextBox 6">
            <a:extLst>
              <a:ext uri="{FF2B5EF4-FFF2-40B4-BE49-F238E27FC236}">
                <a16:creationId xmlns:a16="http://schemas.microsoft.com/office/drawing/2014/main" id="{140339E8-A6AB-1ADA-7B60-67383728C916}"/>
              </a:ext>
            </a:extLst>
          </p:cNvPr>
          <p:cNvSpPr txBox="1"/>
          <p:nvPr/>
        </p:nvSpPr>
        <p:spPr>
          <a:xfrm>
            <a:off x="326400" y="3316843"/>
            <a:ext cx="4816123" cy="646331"/>
          </a:xfrm>
          <a:prstGeom prst="rect">
            <a:avLst/>
          </a:prstGeom>
          <a:noFill/>
        </p:spPr>
        <p:txBody>
          <a:bodyPr wrap="square">
            <a:spAutoFit/>
          </a:bodyPr>
          <a:lstStyle/>
          <a:p>
            <a:r>
              <a:rPr lang="en-US" sz="1800" dirty="0">
                <a:latin typeface="AngsanaUPC" panose="02020603050405020304" pitchFamily="18" charset="-34"/>
                <a:cs typeface="AngsanaUPC" panose="02020603050405020304" pitchFamily="18" charset="-34"/>
              </a:rPr>
              <a:t>select max(</a:t>
            </a:r>
            <a:r>
              <a:rPr lang="en-US" sz="1800" dirty="0" err="1">
                <a:latin typeface="AngsanaUPC" panose="02020603050405020304" pitchFamily="18" charset="-34"/>
                <a:cs typeface="AngsanaUPC" panose="02020603050405020304" pitchFamily="18" charset="-34"/>
              </a:rPr>
              <a:t>issued_book_name</a:t>
            </a:r>
            <a:r>
              <a:rPr lang="en-US" sz="1800" dirty="0">
                <a:latin typeface="AngsanaUPC" panose="02020603050405020304" pitchFamily="18" charset="-34"/>
                <a:cs typeface="AngsanaUPC" panose="02020603050405020304" pitchFamily="18" charset="-34"/>
              </a:rPr>
              <a:t>) as </a:t>
            </a:r>
            <a:r>
              <a:rPr lang="en-US" sz="1800" dirty="0" err="1">
                <a:latin typeface="AngsanaUPC" panose="02020603050405020304" pitchFamily="18" charset="-34"/>
                <a:cs typeface="AngsanaUPC" panose="02020603050405020304" pitchFamily="18" charset="-34"/>
              </a:rPr>
              <a:t>issued_book</a:t>
            </a:r>
            <a:r>
              <a:rPr lang="en-US" sz="1800" dirty="0">
                <a:latin typeface="AngsanaUPC" panose="02020603050405020304" pitchFamily="18" charset="-34"/>
                <a:cs typeface="AngsanaUPC" panose="02020603050405020304" pitchFamily="18" charset="-34"/>
              </a:rPr>
              <a:t> from </a:t>
            </a:r>
            <a:r>
              <a:rPr lang="en-US" sz="1800" dirty="0" err="1">
                <a:latin typeface="AngsanaUPC" panose="02020603050405020304" pitchFamily="18" charset="-34"/>
                <a:cs typeface="AngsanaUPC" panose="02020603050405020304" pitchFamily="18" charset="-34"/>
              </a:rPr>
              <a:t>issued_booksorder</a:t>
            </a:r>
            <a:r>
              <a:rPr lang="en-US" sz="1800" dirty="0">
                <a:latin typeface="AngsanaUPC" panose="02020603050405020304" pitchFamily="18" charset="-34"/>
                <a:cs typeface="AngsanaUPC" panose="02020603050405020304" pitchFamily="18" charset="-34"/>
              </a:rPr>
              <a:t> by </a:t>
            </a:r>
            <a:r>
              <a:rPr lang="en-US" sz="1800" dirty="0" err="1">
                <a:latin typeface="AngsanaUPC" panose="02020603050405020304" pitchFamily="18" charset="-34"/>
                <a:cs typeface="AngsanaUPC" panose="02020603050405020304" pitchFamily="18" charset="-34"/>
              </a:rPr>
              <a:t>issued_book_name</a:t>
            </a:r>
            <a:r>
              <a:rPr lang="en-US" sz="1800" dirty="0">
                <a:latin typeface="AngsanaUPC" panose="02020603050405020304" pitchFamily="18" charset="-34"/>
                <a:cs typeface="AngsanaUPC" panose="02020603050405020304" pitchFamily="18" charset="-34"/>
              </a:rPr>
              <a:t> </a:t>
            </a:r>
            <a:r>
              <a:rPr lang="en-US" sz="1800" dirty="0" err="1">
                <a:latin typeface="AngsanaUPC" panose="02020603050405020304" pitchFamily="18" charset="-34"/>
                <a:cs typeface="AngsanaUPC" panose="02020603050405020304" pitchFamily="18" charset="-34"/>
              </a:rPr>
              <a:t>descLimit</a:t>
            </a:r>
            <a:r>
              <a:rPr lang="en-US" sz="1800" dirty="0">
                <a:latin typeface="AngsanaUPC" panose="02020603050405020304" pitchFamily="18" charset="-34"/>
                <a:cs typeface="AngsanaUPC" panose="02020603050405020304" pitchFamily="18" charset="-34"/>
              </a:rPr>
              <a:t> 3; </a:t>
            </a:r>
            <a:endParaRPr lang="en-IN" sz="1800" dirty="0">
              <a:latin typeface="AngsanaUPC" panose="02020603050405020304" pitchFamily="18" charset="-34"/>
              <a:cs typeface="AngsanaUPC" panose="02020603050405020304" pitchFamily="18" charset="-34"/>
            </a:endParaRPr>
          </a:p>
        </p:txBody>
      </p:sp>
      <p:pic>
        <p:nvPicPr>
          <p:cNvPr id="9" name="Picture 8" descr="A white box with a black text&#10;&#10;Description automatically generated with medium confidence">
            <a:extLst>
              <a:ext uri="{FF2B5EF4-FFF2-40B4-BE49-F238E27FC236}">
                <a16:creationId xmlns:a16="http://schemas.microsoft.com/office/drawing/2014/main" id="{CC3E765E-F0A4-CD02-9FE6-32EFA7D960F5}"/>
              </a:ext>
            </a:extLst>
          </p:cNvPr>
          <p:cNvPicPr>
            <a:picLocks noChangeAspect="1"/>
          </p:cNvPicPr>
          <p:nvPr/>
        </p:nvPicPr>
        <p:blipFill>
          <a:blip r:embed="rId3"/>
          <a:stretch>
            <a:fillRect/>
          </a:stretch>
        </p:blipFill>
        <p:spPr>
          <a:xfrm>
            <a:off x="4930766" y="1180326"/>
            <a:ext cx="3886833" cy="1117036"/>
          </a:xfrm>
          <a:prstGeom prst="rect">
            <a:avLst/>
          </a:prstGeom>
        </p:spPr>
      </p:pic>
      <p:pic>
        <p:nvPicPr>
          <p:cNvPr id="10" name="Picture 9">
            <a:extLst>
              <a:ext uri="{FF2B5EF4-FFF2-40B4-BE49-F238E27FC236}">
                <a16:creationId xmlns:a16="http://schemas.microsoft.com/office/drawing/2014/main" id="{D4FDBFF0-E53A-C90B-2EFC-0F0418E4FA60}"/>
              </a:ext>
            </a:extLst>
          </p:cNvPr>
          <p:cNvPicPr>
            <a:picLocks noChangeAspect="1"/>
          </p:cNvPicPr>
          <p:nvPr/>
        </p:nvPicPr>
        <p:blipFill>
          <a:blip r:embed="rId4"/>
          <a:stretch>
            <a:fillRect/>
          </a:stretch>
        </p:blipFill>
        <p:spPr>
          <a:xfrm>
            <a:off x="5332124" y="3307815"/>
            <a:ext cx="3485475" cy="719390"/>
          </a:xfrm>
          <a:prstGeom prst="rect">
            <a:avLst/>
          </a:prstGeom>
        </p:spPr>
      </p:pic>
    </p:spTree>
    <p:extLst>
      <p:ext uri="{BB962C8B-B14F-4D97-AF65-F5344CB8AC3E}">
        <p14:creationId xmlns:p14="http://schemas.microsoft.com/office/powerpoint/2010/main" val="1558877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97278E16-A294-432E-7422-48B7A0536DB5}"/>
            </a:ext>
          </a:extLst>
        </p:cNvPr>
        <p:cNvGrpSpPr/>
        <p:nvPr/>
      </p:nvGrpSpPr>
      <p:grpSpPr>
        <a:xfrm>
          <a:off x="0" y="0"/>
          <a:ext cx="0" cy="0"/>
          <a:chOff x="0" y="0"/>
          <a:chExt cx="0" cy="0"/>
        </a:xfrm>
      </p:grpSpPr>
      <p:sp>
        <p:nvSpPr>
          <p:cNvPr id="341" name="Google Shape;341;p14">
            <a:extLst>
              <a:ext uri="{FF2B5EF4-FFF2-40B4-BE49-F238E27FC236}">
                <a16:creationId xmlns:a16="http://schemas.microsoft.com/office/drawing/2014/main" id="{9EEF64C0-2099-1A11-853B-3922A21DCC13}"/>
              </a:ext>
            </a:extLst>
          </p:cNvPr>
          <p:cNvSpPr txBox="1">
            <a:spLocks noGrp="1"/>
          </p:cNvSpPr>
          <p:nvPr>
            <p:ph type="ctrTitle"/>
          </p:nvPr>
        </p:nvSpPr>
        <p:spPr>
          <a:xfrm>
            <a:off x="-10050" y="-46610"/>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a:extLst>
              <a:ext uri="{FF2B5EF4-FFF2-40B4-BE49-F238E27FC236}">
                <a16:creationId xmlns:a16="http://schemas.microsoft.com/office/drawing/2014/main" id="{7D38FF1C-22E2-35DC-1B67-6BBE7D171891}"/>
              </a:ext>
            </a:extLst>
          </p:cNvPr>
          <p:cNvSpPr txBox="1"/>
          <p:nvPr/>
        </p:nvSpPr>
        <p:spPr>
          <a:xfrm>
            <a:off x="-150577" y="589498"/>
            <a:ext cx="8403773" cy="34896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r>
              <a:rPr lang="en-US"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rPr>
              <a:t>5.  What is the average rental price of books by category? </a:t>
            </a:r>
            <a:endParaRPr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endParaRPr>
          </a:p>
        </p:txBody>
      </p:sp>
      <p:sp>
        <p:nvSpPr>
          <p:cNvPr id="343" name="Google Shape;343;p14">
            <a:extLst>
              <a:ext uri="{FF2B5EF4-FFF2-40B4-BE49-F238E27FC236}">
                <a16:creationId xmlns:a16="http://schemas.microsoft.com/office/drawing/2014/main" id="{8CCD04A9-A6E0-97B1-EE88-85BC585A1998}"/>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a:extLst>
              <a:ext uri="{FF2B5EF4-FFF2-40B4-BE49-F238E27FC236}">
                <a16:creationId xmlns:a16="http://schemas.microsoft.com/office/drawing/2014/main" id="{24EF2AD7-5F4E-B139-618D-0CC6012CE582}"/>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a:extLst>
              <a:ext uri="{FF2B5EF4-FFF2-40B4-BE49-F238E27FC236}">
                <a16:creationId xmlns:a16="http://schemas.microsoft.com/office/drawing/2014/main" id="{0714C8CE-23F5-5DB8-023E-950BFAD47936}"/>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AAF79796-98CC-7900-8876-2BC70D10CB74}"/>
              </a:ext>
            </a:extLst>
          </p:cNvPr>
          <p:cNvSpPr txBox="1"/>
          <p:nvPr/>
        </p:nvSpPr>
        <p:spPr>
          <a:xfrm>
            <a:off x="163200" y="2638001"/>
            <a:ext cx="6641431" cy="307777"/>
          </a:xfrm>
          <a:prstGeom prst="rect">
            <a:avLst/>
          </a:prstGeom>
          <a:noFill/>
        </p:spPr>
        <p:txBody>
          <a:bodyPr wrap="square">
            <a:spAutoFit/>
          </a:bodyPr>
          <a:lstStyle/>
          <a:p>
            <a:r>
              <a:rPr lang="en-US" dirty="0">
                <a:latin typeface="Amasis MT Pro Medium" panose="02040604050005020304" pitchFamily="18" charset="0"/>
              </a:rPr>
              <a:t>6.  Which employee has issued the most number of books? </a:t>
            </a:r>
            <a:endParaRPr lang="en-IN" dirty="0">
              <a:latin typeface="Amasis MT Pro Medium" panose="02040604050005020304" pitchFamily="18" charset="0"/>
            </a:endParaRPr>
          </a:p>
        </p:txBody>
      </p:sp>
      <p:sp>
        <p:nvSpPr>
          <p:cNvPr id="5" name="TextBox 4">
            <a:extLst>
              <a:ext uri="{FF2B5EF4-FFF2-40B4-BE49-F238E27FC236}">
                <a16:creationId xmlns:a16="http://schemas.microsoft.com/office/drawing/2014/main" id="{2D94D1BF-2433-CB1F-7C51-91088DE73066}"/>
              </a:ext>
            </a:extLst>
          </p:cNvPr>
          <p:cNvSpPr txBox="1"/>
          <p:nvPr/>
        </p:nvSpPr>
        <p:spPr>
          <a:xfrm>
            <a:off x="326400" y="1341258"/>
            <a:ext cx="4652210" cy="646331"/>
          </a:xfrm>
          <a:prstGeom prst="rect">
            <a:avLst/>
          </a:prstGeom>
          <a:noFill/>
        </p:spPr>
        <p:txBody>
          <a:bodyPr wrap="square">
            <a:spAutoFit/>
          </a:bodyPr>
          <a:lstStyle/>
          <a:p>
            <a:r>
              <a:rPr lang="en-US" sz="1800" dirty="0">
                <a:latin typeface="AngsanaUPC" panose="02020603050405020304" pitchFamily="18" charset="-34"/>
                <a:cs typeface="AngsanaUPC" panose="02020603050405020304" pitchFamily="18" charset="-34"/>
              </a:rPr>
              <a:t>SELECT category, AVG(</a:t>
            </a:r>
            <a:r>
              <a:rPr lang="en-US" sz="1800" dirty="0" err="1">
                <a:latin typeface="AngsanaUPC" panose="02020603050405020304" pitchFamily="18" charset="-34"/>
                <a:cs typeface="AngsanaUPC" panose="02020603050405020304" pitchFamily="18" charset="-34"/>
              </a:rPr>
              <a:t>rental_price</a:t>
            </a:r>
            <a:r>
              <a:rPr lang="en-US" sz="1800" dirty="0">
                <a:latin typeface="AngsanaUPC" panose="02020603050405020304" pitchFamily="18" charset="-34"/>
                <a:cs typeface="AngsanaUPC" panose="02020603050405020304" pitchFamily="18" charset="-34"/>
              </a:rPr>
              <a:t>) AS </a:t>
            </a:r>
            <a:r>
              <a:rPr lang="en-US" sz="1800" dirty="0" err="1">
                <a:latin typeface="AngsanaUPC" panose="02020603050405020304" pitchFamily="18" charset="-34"/>
                <a:cs typeface="AngsanaUPC" panose="02020603050405020304" pitchFamily="18" charset="-34"/>
              </a:rPr>
              <a:t>average_rental_price</a:t>
            </a:r>
            <a:r>
              <a:rPr lang="en-US" sz="1800" dirty="0">
                <a:latin typeface="AngsanaUPC" panose="02020603050405020304" pitchFamily="18" charset="-34"/>
                <a:cs typeface="AngsanaUPC" panose="02020603050405020304" pitchFamily="18" charset="-34"/>
              </a:rPr>
              <a:t> FROM Books GROUP BY category;</a:t>
            </a:r>
            <a:endParaRPr lang="en-IN" sz="1800" dirty="0">
              <a:latin typeface="AngsanaUPC" panose="02020603050405020304" pitchFamily="18" charset="-34"/>
              <a:cs typeface="AngsanaUPC" panose="02020603050405020304" pitchFamily="18" charset="-34"/>
            </a:endParaRPr>
          </a:p>
        </p:txBody>
      </p:sp>
      <p:sp>
        <p:nvSpPr>
          <p:cNvPr id="7" name="TextBox 6">
            <a:extLst>
              <a:ext uri="{FF2B5EF4-FFF2-40B4-BE49-F238E27FC236}">
                <a16:creationId xmlns:a16="http://schemas.microsoft.com/office/drawing/2014/main" id="{5039900F-3B21-78F7-61BB-9E7031298CD0}"/>
              </a:ext>
            </a:extLst>
          </p:cNvPr>
          <p:cNvSpPr txBox="1"/>
          <p:nvPr/>
        </p:nvSpPr>
        <p:spPr>
          <a:xfrm>
            <a:off x="390569" y="3210072"/>
            <a:ext cx="4652210" cy="954107"/>
          </a:xfrm>
          <a:prstGeom prst="rect">
            <a:avLst/>
          </a:prstGeom>
          <a:noFill/>
        </p:spPr>
        <p:txBody>
          <a:bodyPr wrap="square">
            <a:spAutoFit/>
          </a:bodyPr>
          <a:lstStyle/>
          <a:p>
            <a:r>
              <a:rPr lang="en-US" dirty="0">
                <a:latin typeface="AngsanaUPC" panose="02020603050405020304" pitchFamily="18" charset="-34"/>
                <a:cs typeface="AngsanaUPC" panose="02020603050405020304" pitchFamily="18" charset="-34"/>
              </a:rPr>
              <a:t>SELECT </a:t>
            </a:r>
            <a:r>
              <a:rPr lang="en-US" dirty="0" err="1">
                <a:latin typeface="AngsanaUPC" panose="02020603050405020304" pitchFamily="18" charset="-34"/>
                <a:cs typeface="AngsanaUPC" panose="02020603050405020304" pitchFamily="18" charset="-34"/>
              </a:rPr>
              <a:t>e.employee_id</a:t>
            </a:r>
            <a:r>
              <a:rPr lang="en-US" dirty="0">
                <a:latin typeface="AngsanaUPC" panose="02020603050405020304" pitchFamily="18" charset="-34"/>
                <a:cs typeface="AngsanaUPC" panose="02020603050405020304" pitchFamily="18" charset="-34"/>
              </a:rPr>
              <a:t>, </a:t>
            </a:r>
            <a:r>
              <a:rPr lang="en-US" dirty="0" err="1">
                <a:latin typeface="AngsanaUPC" panose="02020603050405020304" pitchFamily="18" charset="-34"/>
                <a:cs typeface="AngsanaUPC" panose="02020603050405020304" pitchFamily="18" charset="-34"/>
              </a:rPr>
              <a:t>e.emp_name</a:t>
            </a:r>
            <a:r>
              <a:rPr lang="en-US" dirty="0">
                <a:latin typeface="AngsanaUPC" panose="02020603050405020304" pitchFamily="18" charset="-34"/>
                <a:cs typeface="AngsanaUPC" panose="02020603050405020304" pitchFamily="18" charset="-34"/>
              </a:rPr>
              <a:t>, COUNT(</a:t>
            </a:r>
            <a:r>
              <a:rPr lang="en-US" dirty="0" err="1">
                <a:latin typeface="AngsanaUPC" panose="02020603050405020304" pitchFamily="18" charset="-34"/>
                <a:cs typeface="AngsanaUPC" panose="02020603050405020304" pitchFamily="18" charset="-34"/>
              </a:rPr>
              <a:t>i.issued_emp_id</a:t>
            </a:r>
            <a:r>
              <a:rPr lang="en-US" dirty="0">
                <a:latin typeface="AngsanaUPC" panose="02020603050405020304" pitchFamily="18" charset="-34"/>
                <a:cs typeface="AngsanaUPC" panose="02020603050405020304" pitchFamily="18" charset="-34"/>
              </a:rPr>
              <a:t>) AS </a:t>
            </a:r>
            <a:r>
              <a:rPr lang="en-US" dirty="0" err="1">
                <a:latin typeface="AngsanaUPC" panose="02020603050405020304" pitchFamily="18" charset="-34"/>
                <a:cs typeface="AngsanaUPC" panose="02020603050405020304" pitchFamily="18" charset="-34"/>
              </a:rPr>
              <a:t>total_books_issuedFROM</a:t>
            </a:r>
            <a:r>
              <a:rPr lang="en-US" dirty="0">
                <a:latin typeface="AngsanaUPC" panose="02020603050405020304" pitchFamily="18" charset="-34"/>
                <a:cs typeface="AngsanaUPC" panose="02020603050405020304" pitchFamily="18" charset="-34"/>
              </a:rPr>
              <a:t> Employees as </a:t>
            </a:r>
            <a:r>
              <a:rPr lang="en-US" dirty="0" err="1">
                <a:latin typeface="AngsanaUPC" panose="02020603050405020304" pitchFamily="18" charset="-34"/>
                <a:cs typeface="AngsanaUPC" panose="02020603050405020304" pitchFamily="18" charset="-34"/>
              </a:rPr>
              <a:t>eJOIN</a:t>
            </a:r>
            <a:r>
              <a:rPr lang="en-US" dirty="0">
                <a:latin typeface="AngsanaUPC" panose="02020603050405020304" pitchFamily="18" charset="-34"/>
                <a:cs typeface="AngsanaUPC" panose="02020603050405020304" pitchFamily="18" charset="-34"/>
              </a:rPr>
              <a:t> </a:t>
            </a:r>
            <a:r>
              <a:rPr lang="en-US" dirty="0" err="1">
                <a:latin typeface="AngsanaUPC" panose="02020603050405020304" pitchFamily="18" charset="-34"/>
                <a:cs typeface="AngsanaUPC" panose="02020603050405020304" pitchFamily="18" charset="-34"/>
              </a:rPr>
              <a:t>Issued_books</a:t>
            </a:r>
            <a:r>
              <a:rPr lang="en-US" dirty="0">
                <a:latin typeface="AngsanaUPC" panose="02020603050405020304" pitchFamily="18" charset="-34"/>
                <a:cs typeface="AngsanaUPC" panose="02020603050405020304" pitchFamily="18" charset="-34"/>
              </a:rPr>
              <a:t> as </a:t>
            </a:r>
            <a:r>
              <a:rPr lang="en-US" dirty="0" err="1">
                <a:latin typeface="AngsanaUPC" panose="02020603050405020304" pitchFamily="18" charset="-34"/>
                <a:cs typeface="AngsanaUPC" panose="02020603050405020304" pitchFamily="18" charset="-34"/>
              </a:rPr>
              <a:t>i</a:t>
            </a:r>
            <a:r>
              <a:rPr lang="en-US" dirty="0">
                <a:latin typeface="AngsanaUPC" panose="02020603050405020304" pitchFamily="18" charset="-34"/>
                <a:cs typeface="AngsanaUPC" panose="02020603050405020304" pitchFamily="18" charset="-34"/>
              </a:rPr>
              <a:t> ON </a:t>
            </a:r>
            <a:r>
              <a:rPr lang="en-US" dirty="0" err="1">
                <a:latin typeface="AngsanaUPC" panose="02020603050405020304" pitchFamily="18" charset="-34"/>
                <a:cs typeface="AngsanaUPC" panose="02020603050405020304" pitchFamily="18" charset="-34"/>
              </a:rPr>
              <a:t>e.employee_id</a:t>
            </a:r>
            <a:r>
              <a:rPr lang="en-US" dirty="0">
                <a:latin typeface="AngsanaUPC" panose="02020603050405020304" pitchFamily="18" charset="-34"/>
                <a:cs typeface="AngsanaUPC" panose="02020603050405020304" pitchFamily="18" charset="-34"/>
              </a:rPr>
              <a:t> = </a:t>
            </a:r>
            <a:r>
              <a:rPr lang="en-US" dirty="0" err="1">
                <a:latin typeface="AngsanaUPC" panose="02020603050405020304" pitchFamily="18" charset="-34"/>
                <a:cs typeface="AngsanaUPC" panose="02020603050405020304" pitchFamily="18" charset="-34"/>
              </a:rPr>
              <a:t>i.issued_emp_idGROUP</a:t>
            </a:r>
            <a:r>
              <a:rPr lang="en-US" dirty="0">
                <a:latin typeface="AngsanaUPC" panose="02020603050405020304" pitchFamily="18" charset="-34"/>
                <a:cs typeface="AngsanaUPC" panose="02020603050405020304" pitchFamily="18" charset="-34"/>
              </a:rPr>
              <a:t> BY </a:t>
            </a:r>
            <a:r>
              <a:rPr lang="en-US" dirty="0" err="1">
                <a:latin typeface="AngsanaUPC" panose="02020603050405020304" pitchFamily="18" charset="-34"/>
                <a:cs typeface="AngsanaUPC" panose="02020603050405020304" pitchFamily="18" charset="-34"/>
              </a:rPr>
              <a:t>e.employee_id</a:t>
            </a:r>
            <a:r>
              <a:rPr lang="en-US" dirty="0">
                <a:latin typeface="AngsanaUPC" panose="02020603050405020304" pitchFamily="18" charset="-34"/>
                <a:cs typeface="AngsanaUPC" panose="02020603050405020304" pitchFamily="18" charset="-34"/>
              </a:rPr>
              <a:t>, </a:t>
            </a:r>
            <a:r>
              <a:rPr lang="en-US" dirty="0" err="1">
                <a:latin typeface="AngsanaUPC" panose="02020603050405020304" pitchFamily="18" charset="-34"/>
                <a:cs typeface="AngsanaUPC" panose="02020603050405020304" pitchFamily="18" charset="-34"/>
              </a:rPr>
              <a:t>e.emp_nameORDER</a:t>
            </a:r>
            <a:r>
              <a:rPr lang="en-US" dirty="0">
                <a:latin typeface="AngsanaUPC" panose="02020603050405020304" pitchFamily="18" charset="-34"/>
                <a:cs typeface="AngsanaUPC" panose="02020603050405020304" pitchFamily="18" charset="-34"/>
              </a:rPr>
              <a:t> BY </a:t>
            </a:r>
            <a:r>
              <a:rPr lang="en-US" dirty="0" err="1">
                <a:latin typeface="AngsanaUPC" panose="02020603050405020304" pitchFamily="18" charset="-34"/>
                <a:cs typeface="AngsanaUPC" panose="02020603050405020304" pitchFamily="18" charset="-34"/>
              </a:rPr>
              <a:t>total_books_issued</a:t>
            </a:r>
            <a:r>
              <a:rPr lang="en-US" dirty="0">
                <a:latin typeface="AngsanaUPC" panose="02020603050405020304" pitchFamily="18" charset="-34"/>
                <a:cs typeface="AngsanaUPC" panose="02020603050405020304" pitchFamily="18" charset="-34"/>
              </a:rPr>
              <a:t> DESCLIMIT 1;</a:t>
            </a:r>
            <a:endParaRPr lang="en-IN" dirty="0">
              <a:latin typeface="AngsanaUPC" panose="02020603050405020304" pitchFamily="18" charset="-34"/>
              <a:cs typeface="AngsanaUPC" panose="02020603050405020304" pitchFamily="18" charset="-34"/>
            </a:endParaRPr>
          </a:p>
        </p:txBody>
      </p:sp>
      <p:pic>
        <p:nvPicPr>
          <p:cNvPr id="8" name="Picture 7">
            <a:extLst>
              <a:ext uri="{FF2B5EF4-FFF2-40B4-BE49-F238E27FC236}">
                <a16:creationId xmlns:a16="http://schemas.microsoft.com/office/drawing/2014/main" id="{119992BC-2BC2-15FE-0CAE-9FB2D70B5C40}"/>
              </a:ext>
            </a:extLst>
          </p:cNvPr>
          <p:cNvPicPr>
            <a:picLocks noChangeAspect="1"/>
          </p:cNvPicPr>
          <p:nvPr/>
        </p:nvPicPr>
        <p:blipFill>
          <a:blip r:embed="rId3"/>
          <a:stretch>
            <a:fillRect/>
          </a:stretch>
        </p:blipFill>
        <p:spPr>
          <a:xfrm>
            <a:off x="5821828" y="909420"/>
            <a:ext cx="2815772" cy="2036358"/>
          </a:xfrm>
          <a:prstGeom prst="rect">
            <a:avLst/>
          </a:prstGeom>
        </p:spPr>
      </p:pic>
      <p:pic>
        <p:nvPicPr>
          <p:cNvPr id="10" name="Picture 9">
            <a:extLst>
              <a:ext uri="{FF2B5EF4-FFF2-40B4-BE49-F238E27FC236}">
                <a16:creationId xmlns:a16="http://schemas.microsoft.com/office/drawing/2014/main" id="{958F639C-7546-BF84-B91D-0F8B31E6099A}"/>
              </a:ext>
            </a:extLst>
          </p:cNvPr>
          <p:cNvPicPr>
            <a:picLocks noChangeAspect="1"/>
          </p:cNvPicPr>
          <p:nvPr/>
        </p:nvPicPr>
        <p:blipFill>
          <a:blip r:embed="rId4"/>
          <a:stretch>
            <a:fillRect/>
          </a:stretch>
        </p:blipFill>
        <p:spPr>
          <a:xfrm>
            <a:off x="5109375" y="3363275"/>
            <a:ext cx="3966123" cy="679336"/>
          </a:xfrm>
          <a:prstGeom prst="rect">
            <a:avLst/>
          </a:prstGeom>
        </p:spPr>
      </p:pic>
    </p:spTree>
    <p:extLst>
      <p:ext uri="{BB962C8B-B14F-4D97-AF65-F5344CB8AC3E}">
        <p14:creationId xmlns:p14="http://schemas.microsoft.com/office/powerpoint/2010/main" val="148222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2F3A3380-8449-6809-6216-23045B5E812B}"/>
            </a:ext>
          </a:extLst>
        </p:cNvPr>
        <p:cNvGrpSpPr/>
        <p:nvPr/>
      </p:nvGrpSpPr>
      <p:grpSpPr>
        <a:xfrm>
          <a:off x="0" y="0"/>
          <a:ext cx="0" cy="0"/>
          <a:chOff x="0" y="0"/>
          <a:chExt cx="0" cy="0"/>
        </a:xfrm>
      </p:grpSpPr>
      <p:sp>
        <p:nvSpPr>
          <p:cNvPr id="341" name="Google Shape;341;p14">
            <a:extLst>
              <a:ext uri="{FF2B5EF4-FFF2-40B4-BE49-F238E27FC236}">
                <a16:creationId xmlns:a16="http://schemas.microsoft.com/office/drawing/2014/main" id="{9EAE3AC0-BC2C-FF7E-11FA-63382F949A35}"/>
              </a:ext>
            </a:extLst>
          </p:cNvPr>
          <p:cNvSpPr txBox="1">
            <a:spLocks noGrp="1"/>
          </p:cNvSpPr>
          <p:nvPr>
            <p:ph type="ctrTitle"/>
          </p:nvPr>
        </p:nvSpPr>
        <p:spPr>
          <a:xfrm>
            <a:off x="-10050" y="-46610"/>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a:extLst>
              <a:ext uri="{FF2B5EF4-FFF2-40B4-BE49-F238E27FC236}">
                <a16:creationId xmlns:a16="http://schemas.microsoft.com/office/drawing/2014/main" id="{6A23BA63-8D3A-DBF6-5BF8-E78640198F84}"/>
              </a:ext>
            </a:extLst>
          </p:cNvPr>
          <p:cNvSpPr txBox="1"/>
          <p:nvPr/>
        </p:nvSpPr>
        <p:spPr>
          <a:xfrm>
            <a:off x="-154073" y="505994"/>
            <a:ext cx="8000720" cy="814805"/>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r>
              <a:rPr lang="en-US"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rPr>
              <a:t>7.  What is the total number of books returned in the last month? </a:t>
            </a:r>
            <a:endParaRPr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endParaRPr>
          </a:p>
        </p:txBody>
      </p:sp>
      <p:sp>
        <p:nvSpPr>
          <p:cNvPr id="343" name="Google Shape;343;p14">
            <a:extLst>
              <a:ext uri="{FF2B5EF4-FFF2-40B4-BE49-F238E27FC236}">
                <a16:creationId xmlns:a16="http://schemas.microsoft.com/office/drawing/2014/main" id="{BE839393-01B1-A3F9-DD38-E4FB6E75D7D7}"/>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a:extLst>
              <a:ext uri="{FF2B5EF4-FFF2-40B4-BE49-F238E27FC236}">
                <a16:creationId xmlns:a16="http://schemas.microsoft.com/office/drawing/2014/main" id="{DEB2A317-F329-B8C0-3CF3-697228FB5857}"/>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a:extLst>
              <a:ext uri="{FF2B5EF4-FFF2-40B4-BE49-F238E27FC236}">
                <a16:creationId xmlns:a16="http://schemas.microsoft.com/office/drawing/2014/main" id="{D7C54CE9-F922-97D3-7839-9FB6F2D134F7}"/>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5B7D7B3B-03B1-F714-A882-4A788ED9BFDF}"/>
              </a:ext>
            </a:extLst>
          </p:cNvPr>
          <p:cNvSpPr txBox="1"/>
          <p:nvPr/>
        </p:nvSpPr>
        <p:spPr>
          <a:xfrm>
            <a:off x="163199" y="2723867"/>
            <a:ext cx="6018769" cy="307777"/>
          </a:xfrm>
          <a:prstGeom prst="rect">
            <a:avLst/>
          </a:prstGeom>
          <a:noFill/>
        </p:spPr>
        <p:txBody>
          <a:bodyPr wrap="square">
            <a:spAutoFit/>
          </a:bodyPr>
          <a:lstStyle/>
          <a:p>
            <a:r>
              <a:rPr lang="en-US" dirty="0">
                <a:latin typeface="Amasis MT Pro Medium" panose="02040604050005020304" pitchFamily="18" charset="0"/>
              </a:rPr>
              <a:t>8.  List the members who have rented books but not yet returned them ?</a:t>
            </a:r>
            <a:endParaRPr lang="en-IN" dirty="0">
              <a:latin typeface="Amasis MT Pro Medium" panose="02040604050005020304" pitchFamily="18" charset="0"/>
            </a:endParaRPr>
          </a:p>
        </p:txBody>
      </p:sp>
      <p:sp>
        <p:nvSpPr>
          <p:cNvPr id="5" name="TextBox 4">
            <a:extLst>
              <a:ext uri="{FF2B5EF4-FFF2-40B4-BE49-F238E27FC236}">
                <a16:creationId xmlns:a16="http://schemas.microsoft.com/office/drawing/2014/main" id="{77676909-96A7-D245-3342-5FAB9D8758DC}"/>
              </a:ext>
            </a:extLst>
          </p:cNvPr>
          <p:cNvSpPr txBox="1"/>
          <p:nvPr/>
        </p:nvSpPr>
        <p:spPr>
          <a:xfrm>
            <a:off x="326400" y="1466613"/>
            <a:ext cx="4654060" cy="584775"/>
          </a:xfrm>
          <a:prstGeom prst="rect">
            <a:avLst/>
          </a:prstGeom>
          <a:noFill/>
        </p:spPr>
        <p:txBody>
          <a:bodyPr wrap="square">
            <a:spAutoFit/>
          </a:bodyPr>
          <a:lstStyle/>
          <a:p>
            <a:r>
              <a:rPr lang="en-US" sz="1600" dirty="0">
                <a:latin typeface="AngsanaUPC" panose="02020603050405020304" pitchFamily="18" charset="-34"/>
                <a:cs typeface="AngsanaUPC" panose="02020603050405020304" pitchFamily="18" charset="-34"/>
              </a:rPr>
              <a:t>SELECT COUNT(*) AS </a:t>
            </a:r>
            <a:r>
              <a:rPr lang="en-US" sz="1600" dirty="0" err="1">
                <a:latin typeface="AngsanaUPC" panose="02020603050405020304" pitchFamily="18" charset="-34"/>
                <a:cs typeface="AngsanaUPC" panose="02020603050405020304" pitchFamily="18" charset="-34"/>
              </a:rPr>
              <a:t>total_books_returnedFROM</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return_statusWHERE</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return_date</a:t>
            </a:r>
            <a:r>
              <a:rPr lang="en-US" sz="1600" dirty="0">
                <a:latin typeface="AngsanaUPC" panose="02020603050405020304" pitchFamily="18" charset="-34"/>
                <a:cs typeface="AngsanaUPC" panose="02020603050405020304" pitchFamily="18" charset="-34"/>
              </a:rPr>
              <a:t>= YEAR(CURDATE() );</a:t>
            </a:r>
            <a:endParaRPr lang="en-IN" sz="1600" dirty="0">
              <a:latin typeface="AngsanaUPC" panose="02020603050405020304" pitchFamily="18" charset="-34"/>
              <a:cs typeface="AngsanaUPC" panose="02020603050405020304" pitchFamily="18" charset="-34"/>
            </a:endParaRPr>
          </a:p>
        </p:txBody>
      </p:sp>
      <p:sp>
        <p:nvSpPr>
          <p:cNvPr id="7" name="TextBox 6">
            <a:extLst>
              <a:ext uri="{FF2B5EF4-FFF2-40B4-BE49-F238E27FC236}">
                <a16:creationId xmlns:a16="http://schemas.microsoft.com/office/drawing/2014/main" id="{8CE29BB3-A4A9-F82E-29AA-00E7AC532F3F}"/>
              </a:ext>
            </a:extLst>
          </p:cNvPr>
          <p:cNvSpPr txBox="1"/>
          <p:nvPr/>
        </p:nvSpPr>
        <p:spPr>
          <a:xfrm>
            <a:off x="326400" y="3119347"/>
            <a:ext cx="4654060" cy="830997"/>
          </a:xfrm>
          <a:prstGeom prst="rect">
            <a:avLst/>
          </a:prstGeom>
          <a:noFill/>
        </p:spPr>
        <p:txBody>
          <a:bodyPr wrap="square">
            <a:spAutoFit/>
          </a:bodyPr>
          <a:lstStyle/>
          <a:p>
            <a:r>
              <a:rPr lang="en-IN" sz="1600" dirty="0">
                <a:latin typeface="AngsanaUPC" panose="02020603050405020304" pitchFamily="18" charset="-34"/>
                <a:cs typeface="AngsanaUPC" panose="02020603050405020304" pitchFamily="18" charset="-34"/>
              </a:rPr>
              <a:t>SELECT DISTINCT </a:t>
            </a:r>
            <a:r>
              <a:rPr lang="en-IN" sz="1600" dirty="0" err="1">
                <a:latin typeface="AngsanaUPC" panose="02020603050405020304" pitchFamily="18" charset="-34"/>
                <a:cs typeface="AngsanaUPC" panose="02020603050405020304" pitchFamily="18" charset="-34"/>
              </a:rPr>
              <a:t>m.member_id</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m.member_nameFROM</a:t>
            </a:r>
            <a:r>
              <a:rPr lang="en-IN" sz="1600" dirty="0">
                <a:latin typeface="AngsanaUPC" panose="02020603050405020304" pitchFamily="18" charset="-34"/>
                <a:cs typeface="AngsanaUPC" panose="02020603050405020304" pitchFamily="18" charset="-34"/>
              </a:rPr>
              <a:t> Members </a:t>
            </a:r>
            <a:r>
              <a:rPr lang="en-IN" sz="1600" dirty="0" err="1">
                <a:latin typeface="AngsanaUPC" panose="02020603050405020304" pitchFamily="18" charset="-34"/>
                <a:cs typeface="AngsanaUPC" panose="02020603050405020304" pitchFamily="18" charset="-34"/>
              </a:rPr>
              <a:t>mJOIN</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Issued_Books</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ib</a:t>
            </a:r>
            <a:r>
              <a:rPr lang="en-IN" sz="1600" dirty="0">
                <a:latin typeface="AngsanaUPC" panose="02020603050405020304" pitchFamily="18" charset="-34"/>
                <a:cs typeface="AngsanaUPC" panose="02020603050405020304" pitchFamily="18" charset="-34"/>
              </a:rPr>
              <a:t> ON </a:t>
            </a:r>
            <a:r>
              <a:rPr lang="en-IN" sz="1600" dirty="0" err="1">
                <a:latin typeface="AngsanaUPC" panose="02020603050405020304" pitchFamily="18" charset="-34"/>
                <a:cs typeface="AngsanaUPC" panose="02020603050405020304" pitchFamily="18" charset="-34"/>
              </a:rPr>
              <a:t>m.member_id</a:t>
            </a:r>
            <a:r>
              <a:rPr lang="en-IN" sz="1600" dirty="0">
                <a:latin typeface="AngsanaUPC" panose="02020603050405020304" pitchFamily="18" charset="-34"/>
                <a:cs typeface="AngsanaUPC" panose="02020603050405020304" pitchFamily="18" charset="-34"/>
              </a:rPr>
              <a:t> = </a:t>
            </a:r>
            <a:r>
              <a:rPr lang="en-IN" sz="1600" dirty="0" err="1">
                <a:latin typeface="AngsanaUPC" panose="02020603050405020304" pitchFamily="18" charset="-34"/>
                <a:cs typeface="AngsanaUPC" panose="02020603050405020304" pitchFamily="18" charset="-34"/>
              </a:rPr>
              <a:t>ib.issued_member_idLEFT</a:t>
            </a:r>
            <a:r>
              <a:rPr lang="en-IN" sz="1600" dirty="0">
                <a:latin typeface="AngsanaUPC" panose="02020603050405020304" pitchFamily="18" charset="-34"/>
                <a:cs typeface="AngsanaUPC" panose="02020603050405020304" pitchFamily="18" charset="-34"/>
              </a:rPr>
              <a:t> JOIN </a:t>
            </a:r>
            <a:r>
              <a:rPr lang="en-IN" sz="1600" dirty="0" err="1">
                <a:latin typeface="AngsanaUPC" panose="02020603050405020304" pitchFamily="18" charset="-34"/>
                <a:cs typeface="AngsanaUPC" panose="02020603050405020304" pitchFamily="18" charset="-34"/>
              </a:rPr>
              <a:t>return_status</a:t>
            </a:r>
            <a:r>
              <a:rPr lang="en-IN" sz="1600" dirty="0">
                <a:latin typeface="AngsanaUPC" panose="02020603050405020304" pitchFamily="18" charset="-34"/>
                <a:cs typeface="AngsanaUPC" panose="02020603050405020304" pitchFamily="18" charset="-34"/>
              </a:rPr>
              <a:t> r ON </a:t>
            </a:r>
            <a:r>
              <a:rPr lang="en-IN" sz="1600" dirty="0" err="1">
                <a:latin typeface="AngsanaUPC" panose="02020603050405020304" pitchFamily="18" charset="-34"/>
                <a:cs typeface="AngsanaUPC" panose="02020603050405020304" pitchFamily="18" charset="-34"/>
              </a:rPr>
              <a:t>r.issued_id</a:t>
            </a:r>
            <a:r>
              <a:rPr lang="en-IN" sz="1600" dirty="0">
                <a:latin typeface="AngsanaUPC" panose="02020603050405020304" pitchFamily="18" charset="-34"/>
                <a:cs typeface="AngsanaUPC" panose="02020603050405020304" pitchFamily="18" charset="-34"/>
              </a:rPr>
              <a:t> = </a:t>
            </a:r>
            <a:r>
              <a:rPr lang="en-IN" sz="1600" dirty="0" err="1">
                <a:latin typeface="AngsanaUPC" panose="02020603050405020304" pitchFamily="18" charset="-34"/>
                <a:cs typeface="AngsanaUPC" panose="02020603050405020304" pitchFamily="18" charset="-34"/>
              </a:rPr>
              <a:t>ib.issue_idWHERE</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r.issued_id</a:t>
            </a:r>
            <a:r>
              <a:rPr lang="en-IN" sz="1600" dirty="0">
                <a:latin typeface="AngsanaUPC" panose="02020603050405020304" pitchFamily="18" charset="-34"/>
                <a:cs typeface="AngsanaUPC" panose="02020603050405020304" pitchFamily="18" charset="-34"/>
              </a:rPr>
              <a:t> IS NULL;</a:t>
            </a:r>
          </a:p>
        </p:txBody>
      </p:sp>
      <p:pic>
        <p:nvPicPr>
          <p:cNvPr id="8" name="Picture 7">
            <a:extLst>
              <a:ext uri="{FF2B5EF4-FFF2-40B4-BE49-F238E27FC236}">
                <a16:creationId xmlns:a16="http://schemas.microsoft.com/office/drawing/2014/main" id="{08472780-1814-692D-5D32-765276608119}"/>
              </a:ext>
            </a:extLst>
          </p:cNvPr>
          <p:cNvPicPr>
            <a:picLocks noChangeAspect="1"/>
          </p:cNvPicPr>
          <p:nvPr/>
        </p:nvPicPr>
        <p:blipFill>
          <a:blip r:embed="rId3"/>
          <a:stretch>
            <a:fillRect/>
          </a:stretch>
        </p:blipFill>
        <p:spPr>
          <a:xfrm>
            <a:off x="6026227" y="1504325"/>
            <a:ext cx="2140850" cy="666730"/>
          </a:xfrm>
          <a:prstGeom prst="rect">
            <a:avLst/>
          </a:prstGeom>
        </p:spPr>
      </p:pic>
      <p:pic>
        <p:nvPicPr>
          <p:cNvPr id="9" name="Picture 8">
            <a:extLst>
              <a:ext uri="{FF2B5EF4-FFF2-40B4-BE49-F238E27FC236}">
                <a16:creationId xmlns:a16="http://schemas.microsoft.com/office/drawing/2014/main" id="{28129CF4-4A22-064C-CC39-1AE5EE3FD1A1}"/>
              </a:ext>
            </a:extLst>
          </p:cNvPr>
          <p:cNvPicPr>
            <a:picLocks noChangeAspect="1"/>
          </p:cNvPicPr>
          <p:nvPr/>
        </p:nvPicPr>
        <p:blipFill>
          <a:blip r:embed="rId4"/>
          <a:stretch>
            <a:fillRect/>
          </a:stretch>
        </p:blipFill>
        <p:spPr>
          <a:xfrm>
            <a:off x="6361711" y="2723867"/>
            <a:ext cx="2078916" cy="1731414"/>
          </a:xfrm>
          <a:prstGeom prst="rect">
            <a:avLst/>
          </a:prstGeom>
        </p:spPr>
      </p:pic>
    </p:spTree>
    <p:extLst>
      <p:ext uri="{BB962C8B-B14F-4D97-AF65-F5344CB8AC3E}">
        <p14:creationId xmlns:p14="http://schemas.microsoft.com/office/powerpoint/2010/main" val="59622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62DE5926-21CF-0CA1-9687-D38859D7976F}"/>
            </a:ext>
          </a:extLst>
        </p:cNvPr>
        <p:cNvGrpSpPr/>
        <p:nvPr/>
      </p:nvGrpSpPr>
      <p:grpSpPr>
        <a:xfrm>
          <a:off x="0" y="0"/>
          <a:ext cx="0" cy="0"/>
          <a:chOff x="0" y="0"/>
          <a:chExt cx="0" cy="0"/>
        </a:xfrm>
      </p:grpSpPr>
      <p:sp>
        <p:nvSpPr>
          <p:cNvPr id="341" name="Google Shape;341;p14">
            <a:extLst>
              <a:ext uri="{FF2B5EF4-FFF2-40B4-BE49-F238E27FC236}">
                <a16:creationId xmlns:a16="http://schemas.microsoft.com/office/drawing/2014/main" id="{1FBCDFF3-A899-88E0-FBFA-078BD8E25B9B}"/>
              </a:ext>
            </a:extLst>
          </p:cNvPr>
          <p:cNvSpPr txBox="1">
            <a:spLocks noGrp="1"/>
          </p:cNvSpPr>
          <p:nvPr>
            <p:ph type="ctrTitle"/>
          </p:nvPr>
        </p:nvSpPr>
        <p:spPr>
          <a:xfrm>
            <a:off x="-10050" y="-46610"/>
            <a:ext cx="9144000" cy="71076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a:extLst>
              <a:ext uri="{FF2B5EF4-FFF2-40B4-BE49-F238E27FC236}">
                <a16:creationId xmlns:a16="http://schemas.microsoft.com/office/drawing/2014/main" id="{04CFB000-866B-7008-A84C-DD415EA400C0}"/>
              </a:ext>
            </a:extLst>
          </p:cNvPr>
          <p:cNvSpPr txBox="1"/>
          <p:nvPr/>
        </p:nvSpPr>
        <p:spPr>
          <a:xfrm>
            <a:off x="-154073" y="505994"/>
            <a:ext cx="8000720" cy="814805"/>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r>
              <a:rPr lang="en-US">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rPr>
              <a:t>9.  What is the total rental income generated by a partcular branch? </a:t>
            </a:r>
            <a:endParaRPr dirty="0">
              <a:solidFill>
                <a:schemeClr val="dk1"/>
              </a:solidFill>
              <a:latin typeface="Amasis MT Pro Medium" panose="02040604050005020304" pitchFamily="18" charset="0"/>
              <a:ea typeface="Roboto" panose="02000000000000000000" pitchFamily="2" charset="0"/>
              <a:cs typeface="Roboto" panose="02000000000000000000" pitchFamily="2" charset="0"/>
              <a:sym typeface="Roboto"/>
            </a:endParaRPr>
          </a:p>
        </p:txBody>
      </p:sp>
      <p:sp>
        <p:nvSpPr>
          <p:cNvPr id="343" name="Google Shape;343;p14">
            <a:extLst>
              <a:ext uri="{FF2B5EF4-FFF2-40B4-BE49-F238E27FC236}">
                <a16:creationId xmlns:a16="http://schemas.microsoft.com/office/drawing/2014/main" id="{3C38FEEF-A984-7304-26F3-C8A5D372F54A}"/>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a:extLst>
              <a:ext uri="{FF2B5EF4-FFF2-40B4-BE49-F238E27FC236}">
                <a16:creationId xmlns:a16="http://schemas.microsoft.com/office/drawing/2014/main" id="{BDB282CB-86D7-F0B7-0D19-F08FE6DA616B}"/>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a:extLst>
              <a:ext uri="{FF2B5EF4-FFF2-40B4-BE49-F238E27FC236}">
                <a16:creationId xmlns:a16="http://schemas.microsoft.com/office/drawing/2014/main" id="{11E6D8C2-ACE2-3CA3-CF0D-E7DF261B6A12}"/>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95FC0DB2-C545-9102-49C7-F06641079461}"/>
              </a:ext>
            </a:extLst>
          </p:cNvPr>
          <p:cNvSpPr txBox="1"/>
          <p:nvPr/>
        </p:nvSpPr>
        <p:spPr>
          <a:xfrm>
            <a:off x="163199" y="2716051"/>
            <a:ext cx="6401723" cy="307777"/>
          </a:xfrm>
          <a:prstGeom prst="rect">
            <a:avLst/>
          </a:prstGeom>
          <a:noFill/>
        </p:spPr>
        <p:txBody>
          <a:bodyPr wrap="square">
            <a:spAutoFit/>
          </a:bodyPr>
          <a:lstStyle/>
          <a:p>
            <a:r>
              <a:rPr lang="en-US" dirty="0">
                <a:latin typeface="Amasis MT Pro Medium" panose="02040604050005020304" pitchFamily="18" charset="0"/>
              </a:rPr>
              <a:t>10. Which book has been rented the longest without being returned? </a:t>
            </a:r>
            <a:endParaRPr lang="en-IN" dirty="0">
              <a:latin typeface="Amasis MT Pro Medium" panose="02040604050005020304" pitchFamily="18" charset="0"/>
            </a:endParaRPr>
          </a:p>
        </p:txBody>
      </p:sp>
      <p:pic>
        <p:nvPicPr>
          <p:cNvPr id="6" name="Picture 5">
            <a:extLst>
              <a:ext uri="{FF2B5EF4-FFF2-40B4-BE49-F238E27FC236}">
                <a16:creationId xmlns:a16="http://schemas.microsoft.com/office/drawing/2014/main" id="{0BD057AB-1CC9-67A1-B90D-C18198E9A6C2}"/>
              </a:ext>
            </a:extLst>
          </p:cNvPr>
          <p:cNvPicPr>
            <a:picLocks noChangeAspect="1"/>
          </p:cNvPicPr>
          <p:nvPr/>
        </p:nvPicPr>
        <p:blipFill>
          <a:blip r:embed="rId3"/>
          <a:stretch>
            <a:fillRect/>
          </a:stretch>
        </p:blipFill>
        <p:spPr>
          <a:xfrm>
            <a:off x="6366126" y="1464159"/>
            <a:ext cx="2767824" cy="640135"/>
          </a:xfrm>
          <a:prstGeom prst="rect">
            <a:avLst/>
          </a:prstGeom>
        </p:spPr>
      </p:pic>
      <p:pic>
        <p:nvPicPr>
          <p:cNvPr id="10" name="Picture 9">
            <a:extLst>
              <a:ext uri="{FF2B5EF4-FFF2-40B4-BE49-F238E27FC236}">
                <a16:creationId xmlns:a16="http://schemas.microsoft.com/office/drawing/2014/main" id="{28298296-CFB5-413F-A63C-B2DBCC7FE3D7}"/>
              </a:ext>
            </a:extLst>
          </p:cNvPr>
          <p:cNvPicPr>
            <a:picLocks noChangeAspect="1"/>
          </p:cNvPicPr>
          <p:nvPr/>
        </p:nvPicPr>
        <p:blipFill>
          <a:blip r:embed="rId4"/>
          <a:stretch>
            <a:fillRect/>
          </a:stretch>
        </p:blipFill>
        <p:spPr>
          <a:xfrm>
            <a:off x="5703904" y="3881066"/>
            <a:ext cx="3354128" cy="524301"/>
          </a:xfrm>
          <a:prstGeom prst="rect">
            <a:avLst/>
          </a:prstGeom>
        </p:spPr>
      </p:pic>
      <p:sp>
        <p:nvSpPr>
          <p:cNvPr id="12" name="TextBox 11">
            <a:extLst>
              <a:ext uri="{FF2B5EF4-FFF2-40B4-BE49-F238E27FC236}">
                <a16:creationId xmlns:a16="http://schemas.microsoft.com/office/drawing/2014/main" id="{B803AFE9-4FB8-1691-8A06-D9360BC30B86}"/>
              </a:ext>
            </a:extLst>
          </p:cNvPr>
          <p:cNvSpPr txBox="1"/>
          <p:nvPr/>
        </p:nvSpPr>
        <p:spPr>
          <a:xfrm>
            <a:off x="424763" y="1245617"/>
            <a:ext cx="4654060" cy="1077218"/>
          </a:xfrm>
          <a:prstGeom prst="rect">
            <a:avLst/>
          </a:prstGeom>
          <a:noFill/>
        </p:spPr>
        <p:txBody>
          <a:bodyPr wrap="square">
            <a:spAutoFit/>
          </a:bodyPr>
          <a:lstStyle/>
          <a:p>
            <a:r>
              <a:rPr lang="en-IN" sz="1600" dirty="0">
                <a:latin typeface="AngsanaUPC" panose="02020603050405020304" pitchFamily="18" charset="-34"/>
                <a:cs typeface="AngsanaUPC" panose="02020603050405020304" pitchFamily="18" charset="-34"/>
              </a:rPr>
              <a:t>SUM(</a:t>
            </a:r>
            <a:r>
              <a:rPr lang="en-IN" sz="1600" dirty="0" err="1">
                <a:latin typeface="AngsanaUPC" panose="02020603050405020304" pitchFamily="18" charset="-34"/>
                <a:cs typeface="AngsanaUPC" panose="02020603050405020304" pitchFamily="18" charset="-34"/>
              </a:rPr>
              <a:t>b.rental_price</a:t>
            </a:r>
            <a:r>
              <a:rPr lang="en-IN" sz="1600" dirty="0">
                <a:latin typeface="AngsanaUPC" panose="02020603050405020304" pitchFamily="18" charset="-34"/>
                <a:cs typeface="AngsanaUPC" panose="02020603050405020304" pitchFamily="18" charset="-34"/>
              </a:rPr>
              <a:t>) AS </a:t>
            </a:r>
            <a:r>
              <a:rPr lang="en-IN" sz="1600" dirty="0" err="1">
                <a:latin typeface="AngsanaUPC" panose="02020603050405020304" pitchFamily="18" charset="-34"/>
                <a:cs typeface="AngsanaUPC" panose="02020603050405020304" pitchFamily="18" charset="-34"/>
              </a:rPr>
              <a:t>total_rental_incomeFROM</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Issued_Books</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ibJOIN</a:t>
            </a:r>
            <a:r>
              <a:rPr lang="en-IN" sz="1600" dirty="0">
                <a:latin typeface="AngsanaUPC" panose="02020603050405020304" pitchFamily="18" charset="-34"/>
                <a:cs typeface="AngsanaUPC" panose="02020603050405020304" pitchFamily="18" charset="-34"/>
              </a:rPr>
              <a:t> Books b ON </a:t>
            </a:r>
            <a:r>
              <a:rPr lang="en-IN" sz="1600" dirty="0" err="1">
                <a:latin typeface="AngsanaUPC" panose="02020603050405020304" pitchFamily="18" charset="-34"/>
                <a:cs typeface="AngsanaUPC" panose="02020603050405020304" pitchFamily="18" charset="-34"/>
              </a:rPr>
              <a:t>ib.issued_book_isbn</a:t>
            </a:r>
            <a:r>
              <a:rPr lang="en-IN" sz="1600" dirty="0">
                <a:latin typeface="AngsanaUPC" panose="02020603050405020304" pitchFamily="18" charset="-34"/>
                <a:cs typeface="AngsanaUPC" panose="02020603050405020304" pitchFamily="18" charset="-34"/>
              </a:rPr>
              <a:t> = </a:t>
            </a:r>
            <a:r>
              <a:rPr lang="en-IN" sz="1600" dirty="0" err="1">
                <a:latin typeface="AngsanaUPC" panose="02020603050405020304" pitchFamily="18" charset="-34"/>
                <a:cs typeface="AngsanaUPC" panose="02020603050405020304" pitchFamily="18" charset="-34"/>
              </a:rPr>
              <a:t>b.isbnJOIN</a:t>
            </a:r>
            <a:r>
              <a:rPr lang="en-IN" sz="1600" dirty="0">
                <a:latin typeface="AngsanaUPC" panose="02020603050405020304" pitchFamily="18" charset="-34"/>
                <a:cs typeface="AngsanaUPC" panose="02020603050405020304" pitchFamily="18" charset="-34"/>
              </a:rPr>
              <a:t> Employees e ON </a:t>
            </a:r>
            <a:r>
              <a:rPr lang="en-IN" sz="1600" dirty="0" err="1">
                <a:latin typeface="AngsanaUPC" panose="02020603050405020304" pitchFamily="18" charset="-34"/>
                <a:cs typeface="AngsanaUPC" panose="02020603050405020304" pitchFamily="18" charset="-34"/>
              </a:rPr>
              <a:t>ib.issued_emp_id</a:t>
            </a:r>
            <a:r>
              <a:rPr lang="en-IN" sz="1600" dirty="0">
                <a:latin typeface="AngsanaUPC" panose="02020603050405020304" pitchFamily="18" charset="-34"/>
                <a:cs typeface="AngsanaUPC" panose="02020603050405020304" pitchFamily="18" charset="-34"/>
              </a:rPr>
              <a:t> = </a:t>
            </a:r>
            <a:r>
              <a:rPr lang="en-IN" sz="1600" dirty="0" err="1">
                <a:latin typeface="AngsanaUPC" panose="02020603050405020304" pitchFamily="18" charset="-34"/>
                <a:cs typeface="AngsanaUPC" panose="02020603050405020304" pitchFamily="18" charset="-34"/>
              </a:rPr>
              <a:t>e.employee_idWHERE</a:t>
            </a:r>
            <a:r>
              <a:rPr lang="en-IN" sz="1600" dirty="0">
                <a:latin typeface="AngsanaUPC" panose="02020603050405020304" pitchFamily="18" charset="-34"/>
                <a:cs typeface="AngsanaUPC" panose="02020603050405020304" pitchFamily="18" charset="-34"/>
              </a:rPr>
              <a:t> </a:t>
            </a:r>
            <a:r>
              <a:rPr lang="en-IN" sz="1600" dirty="0" err="1">
                <a:latin typeface="AngsanaUPC" panose="02020603050405020304" pitchFamily="18" charset="-34"/>
                <a:cs typeface="AngsanaUPC" panose="02020603050405020304" pitchFamily="18" charset="-34"/>
              </a:rPr>
              <a:t>e.branch_id</a:t>
            </a:r>
            <a:r>
              <a:rPr lang="en-IN" sz="1600" dirty="0">
                <a:latin typeface="AngsanaUPC" panose="02020603050405020304" pitchFamily="18" charset="-34"/>
                <a:cs typeface="AngsanaUPC" panose="02020603050405020304" pitchFamily="18" charset="-34"/>
              </a:rPr>
              <a:t> = 'B001’  </a:t>
            </a:r>
          </a:p>
          <a:p>
            <a:r>
              <a:rPr lang="en-IN" sz="1600" dirty="0">
                <a:latin typeface="AngsanaUPC" panose="02020603050405020304" pitchFamily="18" charset="-34"/>
                <a:cs typeface="AngsanaUPC" panose="02020603050405020304" pitchFamily="18" charset="-34"/>
              </a:rPr>
              <a:t>group BY </a:t>
            </a:r>
            <a:r>
              <a:rPr lang="en-IN" sz="1600" dirty="0" err="1">
                <a:latin typeface="AngsanaUPC" panose="02020603050405020304" pitchFamily="18" charset="-34"/>
                <a:cs typeface="AngsanaUPC" panose="02020603050405020304" pitchFamily="18" charset="-34"/>
              </a:rPr>
              <a:t>e.branch_id</a:t>
            </a:r>
            <a:r>
              <a:rPr lang="en-IN" sz="1600" dirty="0">
                <a:latin typeface="AngsanaUPC" panose="02020603050405020304" pitchFamily="18" charset="-34"/>
                <a:cs typeface="AngsanaUPC" panose="02020603050405020304" pitchFamily="18" charset="-34"/>
              </a:rPr>
              <a:t>;</a:t>
            </a:r>
          </a:p>
        </p:txBody>
      </p:sp>
      <p:sp>
        <p:nvSpPr>
          <p:cNvPr id="14" name="TextBox 13">
            <a:extLst>
              <a:ext uri="{FF2B5EF4-FFF2-40B4-BE49-F238E27FC236}">
                <a16:creationId xmlns:a16="http://schemas.microsoft.com/office/drawing/2014/main" id="{4D54541C-0102-0522-16E3-4B9A55DA05BB}"/>
              </a:ext>
            </a:extLst>
          </p:cNvPr>
          <p:cNvSpPr txBox="1"/>
          <p:nvPr/>
        </p:nvSpPr>
        <p:spPr>
          <a:xfrm>
            <a:off x="424763" y="3219716"/>
            <a:ext cx="4654060" cy="1077218"/>
          </a:xfrm>
          <a:prstGeom prst="rect">
            <a:avLst/>
          </a:prstGeom>
          <a:noFill/>
        </p:spPr>
        <p:txBody>
          <a:bodyPr wrap="square">
            <a:spAutoFit/>
          </a:bodyPr>
          <a:lstStyle/>
          <a:p>
            <a:r>
              <a:rPr lang="en-US" sz="1600" dirty="0" err="1">
                <a:latin typeface="AngsanaUPC" panose="02020603050405020304" pitchFamily="18" charset="-34"/>
                <a:cs typeface="AngsanaUPC" panose="02020603050405020304" pitchFamily="18" charset="-34"/>
              </a:rPr>
              <a:t>ib.issued_book_name</a:t>
            </a:r>
            <a:r>
              <a:rPr lang="en-US" sz="1600" dirty="0">
                <a:latin typeface="AngsanaUPC" panose="02020603050405020304" pitchFamily="18" charset="-34"/>
                <a:cs typeface="AngsanaUPC" panose="02020603050405020304" pitchFamily="18" charset="-34"/>
              </a:rPr>
              <a:t> AS </a:t>
            </a:r>
            <a:r>
              <a:rPr lang="en-US" sz="1600" dirty="0" err="1">
                <a:latin typeface="AngsanaUPC" panose="02020603050405020304" pitchFamily="18" charset="-34"/>
                <a:cs typeface="AngsanaUPC" panose="02020603050405020304" pitchFamily="18" charset="-34"/>
              </a:rPr>
              <a:t>Book_Name</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ib.issue_date</a:t>
            </a:r>
            <a:r>
              <a:rPr lang="en-US" sz="1600" dirty="0">
                <a:latin typeface="AngsanaUPC" panose="02020603050405020304" pitchFamily="18" charset="-34"/>
                <a:cs typeface="AngsanaUPC" panose="02020603050405020304" pitchFamily="18" charset="-34"/>
              </a:rPr>
              <a:t> AS </a:t>
            </a:r>
            <a:r>
              <a:rPr lang="en-US" sz="1600" dirty="0" err="1">
                <a:latin typeface="AngsanaUPC" panose="02020603050405020304" pitchFamily="18" charset="-34"/>
                <a:cs typeface="AngsanaUPC" panose="02020603050405020304" pitchFamily="18" charset="-34"/>
              </a:rPr>
              <a:t>Issue_Date</a:t>
            </a:r>
            <a:r>
              <a:rPr lang="en-US" sz="1600" dirty="0">
                <a:latin typeface="AngsanaUPC" panose="02020603050405020304" pitchFamily="18" charset="-34"/>
                <a:cs typeface="AngsanaUPC" panose="02020603050405020304" pitchFamily="18" charset="-34"/>
              </a:rPr>
              <a:t>,    DATEDIFF(CURDATE(), </a:t>
            </a:r>
            <a:r>
              <a:rPr lang="en-US" sz="1600" dirty="0" err="1">
                <a:latin typeface="AngsanaUPC" panose="02020603050405020304" pitchFamily="18" charset="-34"/>
                <a:cs typeface="AngsanaUPC" panose="02020603050405020304" pitchFamily="18" charset="-34"/>
              </a:rPr>
              <a:t>ib.issue_date</a:t>
            </a:r>
            <a:r>
              <a:rPr lang="en-US" sz="1600" dirty="0">
                <a:latin typeface="AngsanaUPC" panose="02020603050405020304" pitchFamily="18" charset="-34"/>
                <a:cs typeface="AngsanaUPC" panose="02020603050405020304" pitchFamily="18" charset="-34"/>
              </a:rPr>
              <a:t>) AS </a:t>
            </a:r>
            <a:r>
              <a:rPr lang="en-US" sz="1600" dirty="0" err="1">
                <a:latin typeface="AngsanaUPC" panose="02020603050405020304" pitchFamily="18" charset="-34"/>
                <a:cs typeface="AngsanaUPC" panose="02020603050405020304" pitchFamily="18" charset="-34"/>
              </a:rPr>
              <a:t>Days_RentedFROM</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Issued_Books</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ibLEFT</a:t>
            </a:r>
            <a:r>
              <a:rPr lang="en-US" sz="1600" dirty="0">
                <a:latin typeface="AngsanaUPC" panose="02020603050405020304" pitchFamily="18" charset="-34"/>
                <a:cs typeface="AngsanaUPC" panose="02020603050405020304" pitchFamily="18" charset="-34"/>
              </a:rPr>
              <a:t> JOIN </a:t>
            </a:r>
            <a:r>
              <a:rPr lang="en-US" sz="1600" dirty="0" err="1">
                <a:latin typeface="AngsanaUPC" panose="02020603050405020304" pitchFamily="18" charset="-34"/>
                <a:cs typeface="AngsanaUPC" panose="02020603050405020304" pitchFamily="18" charset="-34"/>
              </a:rPr>
              <a:t>return_status</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rs</a:t>
            </a:r>
            <a:r>
              <a:rPr lang="en-US" sz="1600" dirty="0">
                <a:latin typeface="AngsanaUPC" panose="02020603050405020304" pitchFamily="18" charset="-34"/>
                <a:cs typeface="AngsanaUPC" panose="02020603050405020304" pitchFamily="18" charset="-34"/>
              </a:rPr>
              <a:t> ON </a:t>
            </a:r>
            <a:r>
              <a:rPr lang="en-US" sz="1600" dirty="0" err="1">
                <a:latin typeface="AngsanaUPC" panose="02020603050405020304" pitchFamily="18" charset="-34"/>
                <a:cs typeface="AngsanaUPC" panose="02020603050405020304" pitchFamily="18" charset="-34"/>
              </a:rPr>
              <a:t>ib.issue_id</a:t>
            </a:r>
            <a:r>
              <a:rPr lang="en-US" sz="1600" dirty="0">
                <a:latin typeface="AngsanaUPC" panose="02020603050405020304" pitchFamily="18" charset="-34"/>
                <a:cs typeface="AngsanaUPC" panose="02020603050405020304" pitchFamily="18" charset="-34"/>
              </a:rPr>
              <a:t> = </a:t>
            </a:r>
            <a:r>
              <a:rPr lang="en-US" sz="1600" dirty="0" err="1">
                <a:latin typeface="AngsanaUPC" panose="02020603050405020304" pitchFamily="18" charset="-34"/>
                <a:cs typeface="AngsanaUPC" panose="02020603050405020304" pitchFamily="18" charset="-34"/>
              </a:rPr>
              <a:t>rs.issued_idWHERE</a:t>
            </a:r>
            <a:r>
              <a:rPr lang="en-US" sz="1600" dirty="0">
                <a:latin typeface="AngsanaUPC" panose="02020603050405020304" pitchFamily="18" charset="-34"/>
                <a:cs typeface="AngsanaUPC" panose="02020603050405020304" pitchFamily="18" charset="-34"/>
              </a:rPr>
              <a:t> </a:t>
            </a:r>
            <a:r>
              <a:rPr lang="en-US" sz="1600" dirty="0" err="1">
                <a:latin typeface="AngsanaUPC" panose="02020603050405020304" pitchFamily="18" charset="-34"/>
                <a:cs typeface="AngsanaUPC" panose="02020603050405020304" pitchFamily="18" charset="-34"/>
              </a:rPr>
              <a:t>rs.issued_id</a:t>
            </a:r>
            <a:r>
              <a:rPr lang="en-US" sz="1600" dirty="0">
                <a:latin typeface="AngsanaUPC" panose="02020603050405020304" pitchFamily="18" charset="-34"/>
                <a:cs typeface="AngsanaUPC" panose="02020603050405020304" pitchFamily="18" charset="-34"/>
              </a:rPr>
              <a:t> IS NULLORDER BY </a:t>
            </a:r>
            <a:r>
              <a:rPr lang="en-US" sz="1600" dirty="0" err="1">
                <a:latin typeface="AngsanaUPC" panose="02020603050405020304" pitchFamily="18" charset="-34"/>
                <a:cs typeface="AngsanaUPC" panose="02020603050405020304" pitchFamily="18" charset="-34"/>
              </a:rPr>
              <a:t>Days_Rented</a:t>
            </a:r>
            <a:r>
              <a:rPr lang="en-US" sz="1600" dirty="0">
                <a:latin typeface="AngsanaUPC" panose="02020603050405020304" pitchFamily="18" charset="-34"/>
                <a:cs typeface="AngsanaUPC" panose="02020603050405020304" pitchFamily="18" charset="-34"/>
              </a:rPr>
              <a:t> DESCLIMIT 1;</a:t>
            </a:r>
            <a:endParaRPr lang="en-IN" sz="1600" dirty="0">
              <a:latin typeface="AngsanaUPC" panose="02020603050405020304" pitchFamily="18" charset="-34"/>
              <a:cs typeface="AngsanaUPC" panose="02020603050405020304" pitchFamily="18" charset="-34"/>
            </a:endParaRPr>
          </a:p>
        </p:txBody>
      </p:sp>
    </p:spTree>
    <p:extLst>
      <p:ext uri="{BB962C8B-B14F-4D97-AF65-F5344CB8AC3E}">
        <p14:creationId xmlns:p14="http://schemas.microsoft.com/office/powerpoint/2010/main" val="2090973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US" sz="3000" b="1" dirty="0">
                <a:solidFill>
                  <a:srgbClr val="FFFFFF"/>
                </a:solidFill>
                <a:latin typeface="Roboto"/>
                <a:ea typeface="Roboto"/>
                <a:cs typeface="Roboto"/>
                <a:sym typeface="Roboto"/>
              </a:rPr>
              <a:t>About The Data </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0" y="747774"/>
            <a:ext cx="9144000" cy="4052826"/>
          </a:xfrm>
          <a:prstGeom prst="rect">
            <a:avLst/>
          </a:prstGeom>
          <a:noFill/>
          <a:ln>
            <a:noFill/>
          </a:ln>
        </p:spPr>
        <p:txBody>
          <a:bodyPr spcFirstLastPara="1" wrap="square" lIns="274300" tIns="274300" rIns="274300" bIns="274300" anchor="t" anchorCtr="0">
            <a:noAutofit/>
          </a:bodyPr>
          <a:lstStyle/>
          <a:p>
            <a:pPr algn="l">
              <a:buFont typeface="Arial" panose="020B0604020202020204" pitchFamily="34" charset="0"/>
              <a:buChar char="•"/>
            </a:pPr>
            <a:endParaRPr lang="en-IN" sz="1800" b="0" i="0" dirty="0">
              <a:solidFill>
                <a:srgbClr val="374151"/>
              </a:solidFill>
              <a:effectLst/>
              <a:latin typeface="Roboto" panose="02000000000000000000" pitchFamily="2" charset="0"/>
              <a:ea typeface="Roboto" panose="02000000000000000000" pitchFamily="2" charset="0"/>
              <a:cs typeface="Roboto" panose="02000000000000000000" pitchFamily="2" charset="0"/>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83EF5966-1674-F5CF-2066-7E9DBBCF623A}"/>
              </a:ext>
            </a:extLst>
          </p:cNvPr>
          <p:cNvPicPr>
            <a:picLocks noChangeAspect="1"/>
          </p:cNvPicPr>
          <p:nvPr/>
        </p:nvPicPr>
        <p:blipFill>
          <a:blip r:embed="rId3"/>
          <a:stretch>
            <a:fillRect/>
          </a:stretch>
        </p:blipFill>
        <p:spPr>
          <a:xfrm>
            <a:off x="1159295" y="1328615"/>
            <a:ext cx="6640460" cy="34599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15"/>
          <p:cNvSpPr txBox="1">
            <a:spLocks noGrp="1"/>
          </p:cNvSpPr>
          <p:nvPr>
            <p:ph type="ctrTitle"/>
          </p:nvPr>
        </p:nvSpPr>
        <p:spPr>
          <a:xfrm>
            <a:off x="0" y="59542"/>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US" sz="3000" b="1" dirty="0">
                <a:solidFill>
                  <a:srgbClr val="FFFFFF"/>
                </a:solidFill>
                <a:latin typeface="Roboto"/>
                <a:ea typeface="Roboto"/>
                <a:cs typeface="Roboto"/>
                <a:sym typeface="Roboto"/>
              </a:rPr>
              <a:t>ER Diagram</a:t>
            </a:r>
            <a:endParaRPr sz="3000" b="1" dirty="0">
              <a:solidFill>
                <a:srgbClr val="FFFFFF"/>
              </a:solidFill>
              <a:latin typeface="Roboto"/>
              <a:ea typeface="Roboto"/>
              <a:cs typeface="Roboto"/>
              <a:sym typeface="Roboto"/>
            </a:endParaRPr>
          </a:p>
        </p:txBody>
      </p:sp>
      <p:sp>
        <p:nvSpPr>
          <p:cNvPr id="352" name="Google Shape;352;p15"/>
          <p:cNvSpPr txBox="1"/>
          <p:nvPr/>
        </p:nvSpPr>
        <p:spPr>
          <a:xfrm>
            <a:off x="0" y="802200"/>
            <a:ext cx="9164100" cy="3998400"/>
          </a:xfrm>
          <a:prstGeom prst="rect">
            <a:avLst/>
          </a:prstGeom>
          <a:noFill/>
          <a:ln>
            <a:noFill/>
          </a:ln>
        </p:spPr>
        <p:txBody>
          <a:bodyPr spcFirstLastPara="1" wrap="square" lIns="274300" tIns="274300" rIns="274300" bIns="274300" anchor="t" anchorCtr="0">
            <a:noAutofit/>
          </a:bodyPr>
          <a:lstStyle/>
          <a:p>
            <a:pPr marL="0" lvl="0" indent="0" algn="just" rtl="0">
              <a:lnSpc>
                <a:spcPct val="150000"/>
              </a:lnSpc>
              <a:spcBef>
                <a:spcPts val="1600"/>
              </a:spcBef>
              <a:spcAft>
                <a:spcPts val="1600"/>
              </a:spcAft>
              <a:buNone/>
            </a:pPr>
            <a:endParaRPr sz="1800" dirty="0">
              <a:solidFill>
                <a:schemeClr val="dk1"/>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353" name="Google Shape;353;p15"/>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54" name="Google Shape;354;p15"/>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5"/>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descr="A screenshot of a computer&#10;&#10;Description automatically generated">
            <a:extLst>
              <a:ext uri="{FF2B5EF4-FFF2-40B4-BE49-F238E27FC236}">
                <a16:creationId xmlns:a16="http://schemas.microsoft.com/office/drawing/2014/main" id="{A76EDCCF-F196-CEE7-EB5E-34EB46818DC8}"/>
              </a:ext>
            </a:extLst>
          </p:cNvPr>
          <p:cNvPicPr>
            <a:picLocks noChangeAspect="1"/>
          </p:cNvPicPr>
          <p:nvPr/>
        </p:nvPicPr>
        <p:blipFill>
          <a:blip r:embed="rId3"/>
          <a:stretch>
            <a:fillRect/>
          </a:stretch>
        </p:blipFill>
        <p:spPr>
          <a:xfrm>
            <a:off x="1653465" y="884115"/>
            <a:ext cx="5481981" cy="3834570"/>
          </a:xfrm>
          <a:prstGeom prst="rect">
            <a:avLst/>
          </a:prstGeom>
        </p:spPr>
      </p:pic>
    </p:spTree>
    <p:extLst>
      <p:ext uri="{BB962C8B-B14F-4D97-AF65-F5344CB8AC3E}">
        <p14:creationId xmlns:p14="http://schemas.microsoft.com/office/powerpoint/2010/main" val="2106384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4252"/>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Conclusion</a:t>
            </a:r>
            <a:endParaRPr sz="3000" b="1" dirty="0">
              <a:solidFill>
                <a:srgbClr val="FFFFFF"/>
              </a:solidFill>
              <a:latin typeface="Roboto"/>
              <a:ea typeface="Roboto"/>
              <a:cs typeface="Roboto"/>
              <a:sym typeface="Roboto"/>
            </a:endParaRPr>
          </a:p>
        </p:txBody>
      </p:sp>
      <p:sp>
        <p:nvSpPr>
          <p:cNvPr id="392" name="Google Shape;392;p19"/>
          <p:cNvSpPr txBox="1"/>
          <p:nvPr/>
        </p:nvSpPr>
        <p:spPr>
          <a:xfrm>
            <a:off x="643096" y="840407"/>
            <a:ext cx="8328965" cy="3282703"/>
          </a:xfrm>
          <a:prstGeom prst="rect">
            <a:avLst/>
          </a:prstGeom>
          <a:noFill/>
          <a:ln>
            <a:noFill/>
          </a:ln>
        </p:spPr>
        <p:txBody>
          <a:bodyPr spcFirstLastPara="1" wrap="square" lIns="274300" tIns="274300" rIns="274300" bIns="274300" anchor="t" anchorCtr="0">
            <a:noAutofit/>
          </a:bodyPr>
          <a:lstStyle/>
          <a:p>
            <a:pPr>
              <a:lnSpc>
                <a:spcPct val="150000"/>
              </a:lnSpc>
            </a:pPr>
            <a:r>
              <a:rPr lang="en-US" sz="1800" b="0" i="0" dirty="0">
                <a:solidFill>
                  <a:srgbClr val="374151"/>
                </a:solidFill>
                <a:effectLst/>
                <a:latin typeface="Amasis MT Pro Medium" panose="02040604050005020304" pitchFamily="18" charset="0"/>
                <a:ea typeface="Roboto" panose="02000000000000000000" pitchFamily="2" charset="0"/>
                <a:cs typeface="Roboto" panose="02000000000000000000" pitchFamily="2" charset="0"/>
              </a:rPr>
              <a:t>The Library Management System (LMS) Data Analysis project involved designing a MySQL database to manage books, employees, members, and transactions. Through the creation of relevant tables and the execution of SQL queries, the project provided insights into library operations, such as rental income, book availability, and employee performance. The project enhanced skills in database design, data management, and SQL query optimization, offering a comprehensive approach to analyzing library performance.</a:t>
            </a:r>
          </a:p>
        </p:txBody>
      </p:sp>
      <p:sp>
        <p:nvSpPr>
          <p:cNvPr id="393" name="Google Shape;393;p19"/>
          <p:cNvSpPr txBox="1"/>
          <p:nvPr/>
        </p:nvSpPr>
        <p:spPr>
          <a:xfrm>
            <a:off x="0" y="4775151"/>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94" name="Google Shape;394;p19"/>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392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US" sz="3000" b="1" dirty="0">
                <a:solidFill>
                  <a:srgbClr val="FFFFFF"/>
                </a:solidFill>
                <a:latin typeface="Roboto"/>
                <a:ea typeface="Roboto"/>
                <a:cs typeface="Roboto"/>
                <a:sym typeface="Roboto"/>
              </a:rPr>
              <a:t>Future Scope</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0" y="747774"/>
            <a:ext cx="5426112" cy="4052826"/>
          </a:xfrm>
          <a:prstGeom prst="rect">
            <a:avLst/>
          </a:prstGeom>
          <a:noFill/>
          <a:ln>
            <a:noFill/>
          </a:ln>
        </p:spPr>
        <p:txBody>
          <a:bodyPr spcFirstLastPara="1" wrap="square" lIns="274300" tIns="274300" rIns="274300" bIns="274300" anchor="t" anchorCtr="0">
            <a:noAutofit/>
          </a:bodyPr>
          <a:lstStyle/>
          <a:p>
            <a:pPr algn="l"/>
            <a:endParaRPr lang="en-IN" sz="1800" b="0" i="0" dirty="0">
              <a:solidFill>
                <a:srgbClr val="374151"/>
              </a:solidFill>
              <a:effectLst/>
              <a:latin typeface="Roboto" panose="02000000000000000000" pitchFamily="2" charset="0"/>
              <a:ea typeface="Roboto" panose="02000000000000000000" pitchFamily="2" charset="0"/>
              <a:cs typeface="Roboto" panose="02000000000000000000" pitchFamily="2" charset="0"/>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3D1C8008-244A-0476-E529-088212BFAD76}"/>
              </a:ext>
            </a:extLst>
          </p:cNvPr>
          <p:cNvPicPr>
            <a:picLocks noChangeAspect="1"/>
          </p:cNvPicPr>
          <p:nvPr/>
        </p:nvPicPr>
        <p:blipFill>
          <a:blip r:embed="rId3"/>
          <a:stretch>
            <a:fillRect/>
          </a:stretch>
        </p:blipFill>
        <p:spPr>
          <a:xfrm>
            <a:off x="2517399" y="885825"/>
            <a:ext cx="3665416" cy="3371850"/>
          </a:xfrm>
          <a:prstGeom prst="rect">
            <a:avLst/>
          </a:prstGeom>
        </p:spPr>
      </p:pic>
    </p:spTree>
    <p:extLst>
      <p:ext uri="{BB962C8B-B14F-4D97-AF65-F5344CB8AC3E}">
        <p14:creationId xmlns:p14="http://schemas.microsoft.com/office/powerpoint/2010/main" val="4152322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55802C-28B5-DD35-09ED-07BA83D23199}"/>
              </a:ext>
            </a:extLst>
          </p:cNvPr>
          <p:cNvSpPr txBox="1"/>
          <p:nvPr/>
        </p:nvSpPr>
        <p:spPr>
          <a:xfrm>
            <a:off x="2286000" y="1801292"/>
            <a:ext cx="4572000" cy="1015663"/>
          </a:xfrm>
          <a:prstGeom prst="rect">
            <a:avLst/>
          </a:prstGeom>
          <a:noFill/>
        </p:spPr>
        <p:txBody>
          <a:bodyPr wrap="square">
            <a:spAutoFit/>
          </a:bodyPr>
          <a:lstStyle/>
          <a:p>
            <a:r>
              <a:rPr lang="en-IN" sz="6000" dirty="0"/>
              <a:t>Thank You!</a:t>
            </a:r>
          </a:p>
        </p:txBody>
      </p:sp>
    </p:spTree>
    <p:extLst>
      <p:ext uri="{BB962C8B-B14F-4D97-AF65-F5344CB8AC3E}">
        <p14:creationId xmlns:p14="http://schemas.microsoft.com/office/powerpoint/2010/main" val="401910163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1117</TotalTime>
  <Words>795</Words>
  <Application>Microsoft Office PowerPoint</Application>
  <PresentationFormat>On-screen Show (16:9)</PresentationFormat>
  <Paragraphs>47</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Angsana New</vt:lpstr>
      <vt:lpstr>Aparajita</vt:lpstr>
      <vt:lpstr>Arial</vt:lpstr>
      <vt:lpstr>Roboto</vt:lpstr>
      <vt:lpstr>AngsanaUPC</vt:lpstr>
      <vt:lpstr>Amasis MT Pro Medium</vt:lpstr>
      <vt:lpstr>Arial Rounded MT Bold</vt:lpstr>
      <vt:lpstr>Simple Light</vt:lpstr>
      <vt:lpstr>PowerPoint Presentation</vt:lpstr>
      <vt:lpstr>Project   Overview</vt:lpstr>
      <vt:lpstr>Problem Statement</vt:lpstr>
      <vt:lpstr>Problem Statement</vt:lpstr>
      <vt:lpstr>Problem Statement</vt:lpstr>
      <vt:lpstr>Problem Statement</vt:lpstr>
      <vt:lpstr>Problem Statement</vt:lpstr>
      <vt:lpstr>About The Data </vt:lpstr>
      <vt:lpstr>ER Diagram</vt:lpstr>
      <vt:lpstr>Conclusion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fireb</dc:creator>
  <cp:lastModifiedBy>Awadha Patrikar</cp:lastModifiedBy>
  <cp:revision>12</cp:revision>
  <dcterms:modified xsi:type="dcterms:W3CDTF">2025-01-09T08:05:39Z</dcterms:modified>
</cp:coreProperties>
</file>